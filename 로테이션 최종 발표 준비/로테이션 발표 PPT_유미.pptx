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18_C9870140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22_499B07A4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</p:sldIdLst>
  <p:sldSz cx="18288000" cy="10287000"/>
  <p:notesSz cx="6858000" cy="9144000"/>
  <p:embeddedFontLst>
    <p:embeddedFont>
      <p:font typeface="나눔바른고딕 Light" panose="020B0603020101020101" pitchFamily="50" charset="-127"/>
      <p:regular r:id="rId24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025F25-3A32-8B83-9FF1-15FC9508617F}" name="배유미" initials="배" userId="S::215839@jnu.ac.kr::fcc144e0-13fd-442a-833e-ef528dc4b3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6666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545" autoAdjust="0"/>
  </p:normalViewPr>
  <p:slideViewPr>
    <p:cSldViewPr snapToGrid="0">
      <p:cViewPr varScale="1">
        <p:scale>
          <a:sx n="40" d="100"/>
          <a:sy n="40" d="100"/>
        </p:scale>
        <p:origin x="108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modernComment_118_C98701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F21461-4E7C-476A-A993-73B7D80CA880}" authorId="{CA025F25-3A32-8B83-9FF1-15FC9508617F}" created="2026-06-07T15:20:35.64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81068096" sldId="280"/>
      <ac:spMk id="15" creationId="{3EDACE62-FBD6-59B5-CEB1-60522D5DA817}"/>
      <ac:txMk cp="0" len="36">
        <ac:context len="133" hash="1762110497"/>
      </ac:txMk>
    </ac:txMkLst>
    <p188:pos x="5008638" y="831850"/>
    <p188:txBody>
      <a:bodyPr/>
      <a:lstStyle/>
      <a:p>
        <a:r>
          <a:rPr lang="ko-KR" altLang="en-US"/>
          <a:t>이거 왜 1번?</a:t>
        </a:r>
      </a:p>
    </p188:txBody>
  </p188:cm>
</p188:cmLst>
</file>

<file path=ppt/comments/modernComment_122_499B07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25CBFF-C820-4BE3-8C38-A61E994BC9AB}" authorId="{CA025F25-3A32-8B83-9FF1-15FC9508617F}" created="2026-06-07T16:01:07.3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34896804" sldId="290"/>
      <ac:picMk id="9" creationId="{892EEF79-DC51-5222-D162-EC33529EF348}"/>
    </ac:deMkLst>
    <p188:txBody>
      <a:bodyPr/>
      <a:lstStyle/>
      <a:p>
        <a:r>
          <a:rPr lang="ko-KR" altLang="en-US"/>
          <a:t>여긴 출처 없낭?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ko-KR" altLang="en-US" dirty="0"/>
              <a:t>수정하기</a:t>
            </a:r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582B-C755-0EB2-DC95-E722495C0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478D4-D784-EAB7-0A81-1361F85B3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3865A-2AE0-81D2-6913-6BD3B38BA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18074-245D-B857-DCAE-91ECFF60109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8559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10EF-AF33-7C68-BBFA-AEEE070CD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74730-FDA9-8DA9-4A49-F9B9BBDBC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14437-9CE0-BE2E-FE19-38BB5B1FE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CE9A0-9DBC-B481-F9DE-8C255348E9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575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7E93-87B3-B903-D37D-AF0538F1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52A7E-3D32-8666-BAC4-445B9AF82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AB2E9-768C-5334-AF0F-C0DD816FF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A88E7-D10F-A801-2C80-89FD407791A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749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F1C33-A2F0-3E93-145B-2BE874A4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1624B-B8C2-84FC-A6EC-879D3389E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B1E92-EC8D-AECB-B93E-151E52E2C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4517A-51A0-2263-35D4-8691E6A6557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2709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E542-6D0C-B4CD-3C9E-B2678DE8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87691-292B-B1CF-051E-B3FE3768E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CDCF4-60B1-C9E9-44E3-7F13724F4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/>
            </a:pPr>
            <a:r>
              <a:rPr lang="ko-KR" altLang="en-US" sz="1200" dirty="0"/>
              <a:t>추가적으로 인간에서는 이 </a:t>
            </a:r>
            <a:r>
              <a:rPr lang="en-US" altLang="ko-KR" sz="1200" dirty="0"/>
              <a:t>Repeated ovulation theory</a:t>
            </a:r>
            <a:r>
              <a:rPr lang="ko-KR" altLang="en-US" sz="1200" dirty="0"/>
              <a:t>가 아주 강하게 확립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</a:p>
          <a:p>
            <a:pPr>
              <a:defRPr/>
            </a:pPr>
            <a:r>
              <a:rPr lang="ko-KR" altLang="en-US" sz="1200" dirty="0"/>
              <a:t>그런데 수의학에서는 아직 강하게 확립되지는 않음</a:t>
            </a:r>
            <a:r>
              <a:rPr lang="en-US" altLang="ko-KR" sz="1200" dirty="0"/>
              <a:t>(</a:t>
            </a:r>
            <a:r>
              <a:rPr lang="ko-KR" altLang="en-US" sz="1200" dirty="0"/>
              <a:t>인간은 </a:t>
            </a:r>
            <a:r>
              <a:rPr lang="en-US" altLang="ko-KR" sz="1200" dirty="0"/>
              <a:t>28</a:t>
            </a:r>
            <a:r>
              <a:rPr lang="ko-KR" altLang="en-US" sz="1200" dirty="0"/>
              <a:t>일마다 배란하며</a:t>
            </a:r>
            <a:r>
              <a:rPr lang="en-US" altLang="ko-KR" sz="1200" dirty="0"/>
              <a:t>,</a:t>
            </a:r>
            <a:r>
              <a:rPr lang="ko-KR" altLang="en-US" sz="1200" dirty="0"/>
              <a:t> 개는  연 </a:t>
            </a:r>
            <a:r>
              <a:rPr lang="en-US" altLang="ko-KR" sz="1200" dirty="0"/>
              <a:t>1-2</a:t>
            </a:r>
            <a:r>
              <a:rPr lang="ko-KR" altLang="en-US" sz="1200" dirty="0"/>
              <a:t>회 배란하기에 인간만큼 배란 횟수가 많지 않음</a:t>
            </a:r>
            <a:r>
              <a:rPr lang="en-US" altLang="ko-KR" sz="1200" dirty="0"/>
              <a:t>.</a:t>
            </a:r>
          </a:p>
          <a:p>
            <a:pPr>
              <a:defRPr/>
            </a:pPr>
            <a:r>
              <a:rPr lang="ko-KR" altLang="en-US" sz="1200" dirty="0"/>
              <a:t>인간에서는 임신증가</a:t>
            </a:r>
            <a:r>
              <a:rPr lang="en-US" altLang="ko-KR" sz="1200" dirty="0"/>
              <a:t>,</a:t>
            </a:r>
            <a:r>
              <a:rPr lang="ko-KR" altLang="en-US" sz="1200" dirty="0"/>
              <a:t> 수유기간 증가</a:t>
            </a:r>
            <a:r>
              <a:rPr lang="en-US" altLang="ko-KR" sz="1200" dirty="0"/>
              <a:t>,</a:t>
            </a:r>
            <a:r>
              <a:rPr lang="ko-KR" altLang="en-US" sz="1200" dirty="0"/>
              <a:t> 경구피임약 섭취 시 </a:t>
            </a:r>
            <a:r>
              <a:rPr lang="en-US" altLang="ko-KR" sz="1200" dirty="0"/>
              <a:t>Ovarian tumor</a:t>
            </a:r>
            <a:r>
              <a:rPr lang="ko-KR" altLang="en-US" sz="1200" dirty="0"/>
              <a:t>의  발생률이 줄어든다는 연구가  확실히 되어있지만</a:t>
            </a:r>
            <a:r>
              <a:rPr lang="en-US" altLang="ko-KR" sz="1200" dirty="0"/>
              <a:t>,</a:t>
            </a:r>
            <a:r>
              <a:rPr lang="ko-KR" altLang="en-US" sz="1200" dirty="0"/>
              <a:t> 개는 배란 횟수가 많지 않기에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Repeated ovulation theory</a:t>
            </a:r>
            <a:r>
              <a:rPr lang="ko-KR" altLang="en-US" sz="1200" dirty="0"/>
              <a:t>가 아주 확립되지는 않음</a:t>
            </a:r>
            <a:r>
              <a:rPr lang="en-US" altLang="ko-KR" sz="1200" dirty="0"/>
              <a:t>,</a:t>
            </a:r>
            <a:r>
              <a:rPr lang="ko-KR" altLang="en-US" sz="1200" dirty="0"/>
              <a:t> 그래서 </a:t>
            </a:r>
            <a:r>
              <a:rPr lang="en-US" altLang="ko-KR" sz="1200" dirty="0"/>
              <a:t>“The cause is unknown”</a:t>
            </a:r>
            <a:r>
              <a:rPr lang="ko-KR" altLang="en-US" sz="1200" dirty="0"/>
              <a:t> 이라는 말이 </a:t>
            </a:r>
            <a:r>
              <a:rPr lang="ko-KR" altLang="en-US" sz="1200" dirty="0" err="1"/>
              <a:t>나오는거임</a:t>
            </a:r>
            <a:r>
              <a:rPr lang="en-US" altLang="ko-KR" sz="1200" dirty="0"/>
              <a:t>.)</a:t>
            </a:r>
            <a:r>
              <a:rPr lang="ko-KR" altLang="en-US" sz="1200" dirty="0"/>
              <a:t> </a:t>
            </a:r>
            <a:r>
              <a:rPr lang="ko-KR" altLang="en-US" sz="1000" dirty="0"/>
              <a:t> </a:t>
            </a:r>
          </a:p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BF2EA-BDC5-D619-BFED-CAEE9579774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368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3231-1419-14CB-D871-62307557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43669-6253-BE6C-6DC4-65408055E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58323-56C1-4F70-0742-AD3DA7C86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9F5EC-6688-B44B-76DC-09F4F3F25F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3085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485B9-A433-486F-0606-D0977143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DF1A7-9CE4-9AFA-A4E9-858DAC5DB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3EF34-40B4-F7B8-6695-BEA2F2722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30F82-B745-7083-F5AA-55110A4158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3543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5E97-CD51-BB5C-DB4E-06EA900E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D23FC-5C45-A235-BC2A-2A59FE606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C0C44-5874-F73D-5EA5-680E41ECC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5950-9A24-4DE6-8E37-F70295F4257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945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3AAB9-1BE2-58B6-E205-7C9A8267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8DBD7-0B00-F414-60B8-1BB84E413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22C4B-D87C-8F38-EBFD-AA709DCB6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7CC21-8AAF-65B9-FD3B-5CF75C729A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9445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66303-3641-66C6-D78A-063A2902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DEE57-A01E-D68A-08D3-6D7736D5A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C76CF-D56D-57E6-FF32-0048F1A9B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0574C-EE12-D61E-8EEC-7957616E6A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0041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2A6E9-D078-EC27-A6E3-A6242AC3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E6A56-5EC0-AEF6-4987-C8289CEEE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D0353-B780-8FE0-F7CE-8AF8ADEBB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9CEAA-4C72-536F-9ACE-076E52789B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1951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CB00-D30A-A14D-3DEC-BD6B77377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169FD-7A80-3452-2243-A1A52FB4E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5DE82-2983-9A43-571B-902655EE7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29A57-B213-AD52-8D8F-DFF3C24A47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7638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91DB-417C-83C9-ADA3-39D06ADC0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CE828-E68B-4851-39C6-FFB4D1A85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262CD-0E2C-5019-6EBB-1DD0D9504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6C280-9680-792E-2BD7-1FA0F9BDB6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1917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89140-114F-931B-6546-E14BBF771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2884A-1CC6-7186-65F9-48990246A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6622E-593C-C9C7-5F63-7C8156449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6B27C-4B56-E3B8-9F46-90C530263A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3801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6D15-F376-7EF6-7102-98875A9E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B06BF-263B-762C-709C-94147FD94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7DC65-11CC-88C9-94CC-6597006A6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D3C82-BC0A-B1A1-5BD7-BF7DE2F2F91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49575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C10A0-3C5B-B23B-BA8E-2B726BA9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66B27-B3B4-52D1-7397-CE93E396E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A6BB1-D92C-B545-221D-B7F458E23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E08F2-9187-D83E-4A05-E277B1A9BC0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55328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69675-BB1B-141B-643C-1A1A6558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D9350-C646-A3EE-563D-524B32111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94BE1-3A45-F9A7-CB89-66C0F8A98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05526-8620-0D4C-6924-998C8805710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3140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D3C9-44DE-77B6-ADA7-5CE05D0E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AC49E-F99D-FB23-B9BB-5D5C20037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DD5F2-1C4C-0717-914D-A452B33B8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DC2B4-E5A2-9E3A-7555-8468A1FC86F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93981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7D4F-3B01-6904-F602-7F888D2E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E6D3D-ED9D-9C85-6A09-355EBA9B5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0A8B7-64A9-F18D-BCB5-E5B1EBEE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7A2F4-D6A6-AD68-EEBF-0A52BD01588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4563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F707-CB4C-6C6E-A853-302B62F3C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292848-45E2-4526-63D0-4165C5E78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EED4E-CFCC-410A-AF0F-49E6AD292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endParaRPr 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1E13E-4830-3918-4191-17B034FF7B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3108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B4E72-DCC7-3BFE-0DB4-CC57C944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AF8CE1-17F8-5857-82C3-3EC4FC410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C987014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499B07A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">
            <a:extLst>
              <a:ext uri="{FF2B5EF4-FFF2-40B4-BE49-F238E27FC236}">
                <a16:creationId xmlns:a16="http://schemas.microsoft.com/office/drawing/2014/main" id="{463E3844-881E-44A8-B0DA-99CD620B40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wash-a">
            <a:extLst>
              <a:ext uri="{FF2B5EF4-FFF2-40B4-BE49-F238E27FC236}">
                <a16:creationId xmlns:a16="http://schemas.microsoft.com/office/drawing/2014/main" id="{5884E57E-9F88-4E13-B727-DCEEDEF687B8}"/>
              </a:ext>
            </a:extLst>
          </p:cNvPr>
          <p:cNvSpPr>
            <a:spLocks noGrp="1"/>
          </p:cNvSpPr>
          <p:nvPr/>
        </p:nvSpPr>
        <p:spPr>
          <a:xfrm>
            <a:off x="13620750" y="-2476500"/>
            <a:ext cx="7239000" cy="72390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9D4BD124-5F4D-4446-870E-EC4662A73176}"/>
              </a:ext>
            </a:extLst>
          </p:cNvPr>
          <p:cNvSpPr>
            <a:spLocks noGrp="1"/>
          </p:cNvSpPr>
          <p:nvPr/>
        </p:nvSpPr>
        <p:spPr>
          <a:xfrm>
            <a:off x="14573250" y="-1619250"/>
            <a:ext cx="5334000" cy="53340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5C4D4BD7-A5BE-48BF-891A-440AA7415CF8}"/>
              </a:ext>
            </a:extLst>
          </p:cNvPr>
          <p:cNvSpPr>
            <a:spLocks noGrp="1"/>
          </p:cNvSpPr>
          <p:nvPr/>
        </p:nvSpPr>
        <p:spPr>
          <a:xfrm>
            <a:off x="15811500" y="-571500"/>
            <a:ext cx="3143250" cy="31432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cover-radiograph"/>
          <p:cNvPicPr>
            <a:picLocks noChangeAspect="1"/>
          </p:cNvPicPr>
          <p:nvPr/>
        </p:nvPicPr>
        <p:blipFill>
          <a:blip r:embed="rId3"/>
          <a:srcRect l="14048" r="14048"/>
          <a:stretch>
            <a:fillRect/>
          </a:stretch>
        </p:blipFill>
        <p:spPr>
          <a:xfrm>
            <a:off x="8096250" y="1095375"/>
            <a:ext cx="8763000" cy="6667500"/>
          </a:xfrm>
          <a:prstGeom prst="rect">
            <a:avLst/>
          </a:prstGeom>
        </p:spPr>
      </p:pic>
      <p:sp>
        <p:nvSpPr>
          <p:cNvPr id="6" name="cover-scrim">
            <a:extLst>
              <a:ext uri="{FF2B5EF4-FFF2-40B4-BE49-F238E27FC236}">
                <a16:creationId xmlns:a16="http://schemas.microsoft.com/office/drawing/2014/main" id="{7E62F798-77F0-476C-8CEF-66FB5534BC61}"/>
              </a:ext>
            </a:extLst>
          </p:cNvPr>
          <p:cNvSpPr>
            <a:spLocks noGrp="1"/>
          </p:cNvSpPr>
          <p:nvPr/>
        </p:nvSpPr>
        <p:spPr>
          <a:xfrm>
            <a:off x="7810500" y="666750"/>
            <a:ext cx="9334500" cy="7429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cover-radiograph-soft"/>
          <p:cNvPicPr>
            <a:picLocks noChangeAspect="1"/>
          </p:cNvPicPr>
          <p:nvPr/>
        </p:nvPicPr>
        <p:blipFill>
          <a:blip r:embed="rId3"/>
          <a:srcRect l="14124" r="14124"/>
          <a:stretch>
            <a:fillRect/>
          </a:stretch>
        </p:blipFill>
        <p:spPr>
          <a:xfrm>
            <a:off x="8667750" y="1571625"/>
            <a:ext cx="7620000" cy="5810250"/>
          </a:xfrm>
          <a:prstGeom prst="rect">
            <a:avLst/>
          </a:prstGeom>
        </p:spPr>
      </p:pic>
      <p:sp>
        <p:nvSpPr>
          <p:cNvPr id="8" name="cover-accent">
            <a:extLst>
              <a:ext uri="{FF2B5EF4-FFF2-40B4-BE49-F238E27FC236}">
                <a16:creationId xmlns:a16="http://schemas.microsoft.com/office/drawing/2014/main" id="{8AD2D4D1-586F-48AA-A889-EA080E149262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1219200" cy="8572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ver-title">
            <a:extLst>
              <a:ext uri="{FF2B5EF4-FFF2-40B4-BE49-F238E27FC236}">
                <a16:creationId xmlns:a16="http://schemas.microsoft.com/office/drawing/2014/main" id="{7563F7DE-D4BD-4F46-AF58-AB8878B2CFAC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810500" cy="200025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52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Case Report</a:t>
            </a:r>
          </a:p>
          <a:p>
            <a:pPr algn="l">
              <a:buNone/>
              <a:defRPr sz="52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- </a:t>
            </a:r>
            <a:r>
              <a:rPr lang="ko-KR" altLang="en-US" dirty="0"/>
              <a:t>애기</a:t>
            </a:r>
            <a:endParaRPr dirty="0"/>
          </a:p>
        </p:txBody>
      </p:sp>
      <p:sp>
        <p:nvSpPr>
          <p:cNvPr id="10" name="cover-subtitle">
            <a:extLst>
              <a:ext uri="{FF2B5EF4-FFF2-40B4-BE49-F238E27FC236}">
                <a16:creationId xmlns:a16="http://schemas.microsoft.com/office/drawing/2014/main" id="{74513636-E825-47DC-A46E-ED66CB72AFA7}"/>
              </a:ext>
            </a:extLst>
          </p:cNvPr>
          <p:cNvSpPr>
            <a:spLocks noGrp="1"/>
          </p:cNvSpPr>
          <p:nvPr/>
        </p:nvSpPr>
        <p:spPr>
          <a:xfrm>
            <a:off x="952500" y="4629150"/>
            <a:ext cx="7429500" cy="8763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225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t>방사선에서 확인 가능한 소견과</a:t>
            </a:r>
          </a:p>
          <a:p>
            <a:pPr algn="l">
              <a:buNone/>
              <a:defRPr sz="225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t>임상검사로 보완할 지점</a:t>
            </a:r>
          </a:p>
        </p:txBody>
      </p:sp>
      <p:sp>
        <p:nvSpPr>
          <p:cNvPr id="11" name="cover-meta">
            <a:extLst>
              <a:ext uri="{FF2B5EF4-FFF2-40B4-BE49-F238E27FC236}">
                <a16:creationId xmlns:a16="http://schemas.microsoft.com/office/drawing/2014/main" id="{73D835CB-DC9F-4770-85F4-7A23A371EDE9}"/>
              </a:ext>
            </a:extLst>
          </p:cNvPr>
          <p:cNvSpPr>
            <a:spLocks noGrp="1"/>
          </p:cNvSpPr>
          <p:nvPr/>
        </p:nvSpPr>
        <p:spPr>
          <a:xfrm>
            <a:off x="952500" y="6819900"/>
            <a:ext cx="4572000" cy="32385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800" b="0">
                <a:solidFill>
                  <a:srgbClr val="74798C"/>
                </a:solidFill>
                <a:latin typeface="A2Z 5 Medium"/>
                <a:ea typeface="A2Z 5 Medium"/>
                <a:cs typeface="A2Z 5 Medium"/>
              </a:defRPr>
            </a:pPr>
            <a:r>
              <a:t>영상의학과 로테이션 발표</a:t>
            </a:r>
          </a:p>
        </p:txBody>
      </p:sp>
      <p:sp>
        <p:nvSpPr>
          <p:cNvPr id="12" name="cover-small-rule">
            <a:extLst>
              <a:ext uri="{FF2B5EF4-FFF2-40B4-BE49-F238E27FC236}">
                <a16:creationId xmlns:a16="http://schemas.microsoft.com/office/drawing/2014/main" id="{774032EA-8EF6-4FFE-B8AC-A0CD7958B7B2}"/>
              </a:ext>
            </a:extLst>
          </p:cNvPr>
          <p:cNvSpPr>
            <a:spLocks noGrp="1"/>
          </p:cNvSpPr>
          <p:nvPr/>
        </p:nvSpPr>
        <p:spPr>
          <a:xfrm>
            <a:off x="952500" y="74295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818AFF"/>
          </a:solidFill>
          <a:ln w="0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cover-key">
            <a:extLst>
              <a:ext uri="{FF2B5EF4-FFF2-40B4-BE49-F238E27FC236}">
                <a16:creationId xmlns:a16="http://schemas.microsoft.com/office/drawing/2014/main" id="{22A6A7CF-43E7-4E9F-B3CF-4742F3514C9F}"/>
              </a:ext>
            </a:extLst>
          </p:cNvPr>
          <p:cNvSpPr>
            <a:spLocks noGrp="1"/>
          </p:cNvSpPr>
          <p:nvPr/>
        </p:nvSpPr>
        <p:spPr>
          <a:xfrm>
            <a:off x="952500" y="7772400"/>
            <a:ext cx="5715000" cy="74295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950" b="0">
                <a:solidFill>
                  <a:srgbClr val="3C4054"/>
                </a:solidFill>
                <a:latin typeface="A2Z 5 Medium"/>
                <a:ea typeface="A2Z 5 Medium"/>
                <a:cs typeface="A2Z 5 Medium"/>
              </a:defRPr>
            </a:pPr>
            <a:r>
              <a:t>핵심은 진단명보다</a:t>
            </a:r>
          </a:p>
          <a:p>
            <a:pPr algn="l">
              <a:buNone/>
              <a:defRPr sz="1950" b="0">
                <a:solidFill>
                  <a:srgbClr val="3C4054"/>
                </a:solidFill>
                <a:latin typeface="A2Z 5 Medium"/>
                <a:ea typeface="A2Z 5 Medium"/>
                <a:cs typeface="A2Z 5 Medium"/>
              </a:defRPr>
            </a:pPr>
            <a:r>
              <a:t>영상에서 보이는 것과 보이지 않는 것</a:t>
            </a:r>
          </a:p>
        </p:txBody>
      </p:sp>
      <p:sp>
        <p:nvSpPr>
          <p:cNvPr id="14" name="source-tag-bg-1270-874">
            <a:extLst>
              <a:ext uri="{FF2B5EF4-FFF2-40B4-BE49-F238E27FC236}">
                <a16:creationId xmlns:a16="http://schemas.microsoft.com/office/drawing/2014/main" id="{073CA377-DAAA-452B-9EE6-A124A1674E87}"/>
              </a:ext>
            </a:extLst>
          </p:cNvPr>
          <p:cNvSpPr>
            <a:spLocks noGrp="1"/>
          </p:cNvSpPr>
          <p:nvPr/>
        </p:nvSpPr>
        <p:spPr>
          <a:xfrm>
            <a:off x="12096750" y="83248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ource-tag-1270-874">
            <a:extLst>
              <a:ext uri="{FF2B5EF4-FFF2-40B4-BE49-F238E27FC236}">
                <a16:creationId xmlns:a16="http://schemas.microsoft.com/office/drawing/2014/main" id="{68E60656-0AFF-4256-8606-8D8D51A6920F}"/>
              </a:ext>
            </a:extLst>
          </p:cNvPr>
          <p:cNvSpPr>
            <a:spLocks noGrp="1"/>
          </p:cNvSpPr>
          <p:nvPr/>
        </p:nvSpPr>
        <p:spPr>
          <a:xfrm>
            <a:off x="12230100" y="8391525"/>
            <a:ext cx="1828800" cy="1905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1125" b="0">
                <a:solidFill>
                  <a:srgbClr val="74798C"/>
                </a:solidFill>
                <a:latin typeface="A2Z 5 Medium"/>
                <a:ea typeface="A2Z 5 Medium"/>
                <a:cs typeface="A2Z 5 Medium"/>
              </a:defRPr>
            </a:pPr>
            <a:r>
              <a:rPr dirty="0" err="1"/>
              <a:t>수업자료</a:t>
            </a:r>
            <a:r>
              <a:rPr dirty="0"/>
              <a:t> p.75</a:t>
            </a:r>
          </a:p>
        </p:txBody>
      </p:sp>
    </p:spTree>
    <p:extLst>
      <p:ext uri="{BB962C8B-B14F-4D97-AF65-F5344CB8AC3E}">
        <p14:creationId xmlns:p14="http://schemas.microsoft.com/office/powerpoint/2010/main" val="96162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E9E44-4D23-6D57-E4BB-21572C55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CE074EB9-8318-1AB9-1993-4976512716A9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9068FF1D-8333-BFA3-575F-1A904AFD682B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9B44BDE5-D78C-AF45-A307-CF83F7589F1F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AEFFE1E7-DF5B-92E3-4BA7-EF112157D9E0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69EA6E8E-A22F-65CE-4027-8A367AAE0661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A2A2A667-A5DA-D0AE-6EC6-4BD12627B8BC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8477250" cy="13335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sz="5000" dirty="0"/>
              <a:t>Ovarian Tumor</a:t>
            </a:r>
            <a:endParaRPr sz="5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DE2C62C6-F071-63B2-B4F3-386623416D3B}"/>
              </a:ext>
            </a:extLst>
          </p:cNvPr>
          <p:cNvSpPr>
            <a:spLocks noGrp="1"/>
          </p:cNvSpPr>
          <p:nvPr/>
        </p:nvSpPr>
        <p:spPr>
          <a:xfrm>
            <a:off x="816429" y="3657600"/>
            <a:ext cx="16824800" cy="5486399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FF"/>
              </a:buClr>
              <a:buFont typeface="Wingdings" panose="05000000000000000000" pitchFamily="2" charset="2"/>
              <a:buChar char="l"/>
              <a:defRPr/>
            </a:pPr>
            <a:r>
              <a:rPr lang="ko-KR" altLang="en-US" sz="2200" kern="0" dirty="0">
                <a:latin typeface="+mn-ea"/>
              </a:rPr>
              <a:t>개에서 비교적 드물게 발생하는 생식기 종양</a:t>
            </a:r>
            <a:endParaRPr lang="en-US" altLang="ko-KR" sz="2200" kern="0" dirty="0">
              <a:latin typeface="+mn-ea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FF"/>
              </a:buClr>
              <a:buFont typeface="Wingdings" panose="05000000000000000000" pitchFamily="2" charset="2"/>
              <a:buChar char="l"/>
              <a:defRPr/>
            </a:pPr>
            <a:endParaRPr lang="ko-KR" altLang="en-US" sz="2200" kern="0" dirty="0">
              <a:latin typeface="+mn-ea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FF"/>
              </a:buClr>
              <a:buFont typeface="Wingdings" panose="05000000000000000000" pitchFamily="2" charset="2"/>
              <a:buChar char="l"/>
              <a:defRPr/>
            </a:pPr>
            <a:r>
              <a:rPr lang="ko-KR" altLang="en-US" sz="2200" kern="0" dirty="0">
                <a:latin typeface="+mn-ea"/>
              </a:rPr>
              <a:t>다양한 조직학적 기원을 가짐</a:t>
            </a:r>
            <a:endParaRPr lang="en-US" altLang="ko-KR" sz="2200" kern="0" dirty="0">
              <a:latin typeface="+mn-ea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FF"/>
              </a:buClr>
              <a:buFont typeface="Wingdings" panose="05000000000000000000" pitchFamily="2" charset="2"/>
              <a:buChar char="l"/>
              <a:defRPr/>
            </a:pPr>
            <a:endParaRPr lang="en-US" altLang="ko-KR" sz="2200" kern="0" dirty="0">
              <a:latin typeface="+mn-ea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FF"/>
              </a:buClr>
              <a:buFont typeface="Wingdings" panose="05000000000000000000" pitchFamily="2" charset="2"/>
              <a:buChar char="l"/>
              <a:defRPr/>
            </a:pPr>
            <a:r>
              <a:rPr lang="ko-KR" altLang="en-US" sz="2200" kern="0" dirty="0">
                <a:latin typeface="+mn-ea"/>
              </a:rPr>
              <a:t>내분비계</a:t>
            </a:r>
            <a:r>
              <a:rPr lang="en-US" altLang="ko-KR" sz="2200" kern="0" dirty="0">
                <a:latin typeface="+mn-ea"/>
              </a:rPr>
              <a:t>, </a:t>
            </a:r>
            <a:r>
              <a:rPr lang="ko-KR" altLang="en-US" sz="2200" kern="0" dirty="0" err="1">
                <a:latin typeface="+mn-ea"/>
              </a:rPr>
              <a:t>면역계</a:t>
            </a:r>
            <a:r>
              <a:rPr lang="en-US" altLang="ko-KR" sz="2200" kern="0" dirty="0">
                <a:latin typeface="+mn-ea"/>
              </a:rPr>
              <a:t>, </a:t>
            </a:r>
            <a:r>
              <a:rPr lang="ko-KR" altLang="en-US" sz="2200" kern="0" dirty="0" err="1">
                <a:latin typeface="+mn-ea"/>
              </a:rPr>
              <a:t>응고계</a:t>
            </a:r>
            <a:r>
              <a:rPr lang="ko-KR" altLang="en-US" sz="2200" kern="0" dirty="0">
                <a:latin typeface="+mn-ea"/>
              </a:rPr>
              <a:t> 및 복강 환경에 광범위한 영향 미칠 수 있음</a:t>
            </a:r>
            <a:endParaRPr lang="en-US" altLang="ko-KR" sz="2200" kern="0" dirty="0">
              <a:latin typeface="+mn-ea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FF"/>
              </a:buClr>
              <a:buFont typeface="Wingdings" panose="05000000000000000000" pitchFamily="2" charset="2"/>
              <a:buChar char="l"/>
              <a:defRPr/>
            </a:pPr>
            <a:endParaRPr lang="en-US" altLang="ko-KR" sz="2200" kern="0" dirty="0">
              <a:latin typeface="+mn-ea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999FF"/>
              </a:buClr>
              <a:buFont typeface="Wingdings" panose="05000000000000000000" pitchFamily="2" charset="2"/>
              <a:buChar char="l"/>
              <a:defRPr/>
            </a:pPr>
            <a:r>
              <a:rPr lang="en-US" altLang="ko-KR" sz="2200" kern="0" dirty="0">
                <a:latin typeface="+mn-ea"/>
              </a:rPr>
              <a:t> </a:t>
            </a:r>
            <a:r>
              <a:rPr lang="ko-KR" altLang="en-US" sz="2200" kern="0" dirty="0">
                <a:latin typeface="+mn-ea"/>
              </a:rPr>
              <a:t>특히 </a:t>
            </a:r>
            <a:r>
              <a:rPr lang="ko-KR" altLang="en-US" sz="2200" kern="0" dirty="0">
                <a:solidFill>
                  <a:srgbClr val="3333CC"/>
                </a:solidFill>
                <a:latin typeface="+mn-ea"/>
              </a:rPr>
              <a:t>악성 난소종양</a:t>
            </a:r>
            <a:r>
              <a:rPr lang="ko-KR" altLang="en-US" sz="2200" kern="0" dirty="0">
                <a:latin typeface="+mn-ea"/>
              </a:rPr>
              <a:t>은 </a:t>
            </a:r>
            <a:r>
              <a:rPr lang="en-US" altLang="ko-KR" sz="2200" kern="0" dirty="0">
                <a:latin typeface="+mn-ea"/>
              </a:rPr>
              <a:t>peritoneal dissemination, malignant pleural effusion, systemic inflammatory response, thromboembolism </a:t>
            </a:r>
            <a:r>
              <a:rPr lang="ko-KR" altLang="en-US" sz="2200" kern="0" dirty="0">
                <a:latin typeface="+mn-ea"/>
              </a:rPr>
              <a:t>등을 유발하며</a:t>
            </a:r>
            <a:r>
              <a:rPr lang="en-US" altLang="ko-KR" sz="2200" kern="0" dirty="0">
                <a:latin typeface="+mn-ea"/>
              </a:rPr>
              <a:t>,</a:t>
            </a:r>
            <a:r>
              <a:rPr lang="ko-KR" altLang="en-US" sz="2200" kern="0" dirty="0">
                <a:latin typeface="+mn-ea"/>
              </a:rPr>
              <a:t> </a:t>
            </a:r>
            <a:r>
              <a:rPr lang="ko-KR" altLang="en-US" sz="2200" kern="0" dirty="0" err="1">
                <a:latin typeface="+mn-ea"/>
              </a:rPr>
              <a:t>다장기</a:t>
            </a:r>
            <a:r>
              <a:rPr lang="ko-KR" altLang="en-US" sz="2200" kern="0" dirty="0">
                <a:latin typeface="+mn-ea"/>
              </a:rPr>
              <a:t> 손상으로 이어질 수 있음</a:t>
            </a:r>
          </a:p>
        </p:txBody>
      </p:sp>
    </p:spTree>
    <p:extLst>
      <p:ext uri="{BB962C8B-B14F-4D97-AF65-F5344CB8AC3E}">
        <p14:creationId xmlns:p14="http://schemas.microsoft.com/office/powerpoint/2010/main" val="94990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5CC7-6D48-61C7-0F8E-AD50381F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CB8E5C84-65AE-8599-6204-77A1FFFD4B37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DE74E851-B178-637E-3A4E-6C1A2D921A6B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13BDE2FE-9E72-A739-18CD-DF0AC319EF6D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11">
            <a:extLst>
              <a:ext uri="{FF2B5EF4-FFF2-40B4-BE49-F238E27FC236}">
                <a16:creationId xmlns:a16="http://schemas.microsoft.com/office/drawing/2014/main" id="{F9370FE8-BB55-844A-E145-C4A3B8FE6E71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11">
            <a:extLst>
              <a:ext uri="{FF2B5EF4-FFF2-40B4-BE49-F238E27FC236}">
                <a16:creationId xmlns:a16="http://schemas.microsoft.com/office/drawing/2014/main" id="{057EAFD1-A758-08AB-6F6D-DBA9B4070C5C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01  Introduction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549F2A73-B3E2-B0B8-1DAC-F769C44966E9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12573000" cy="13335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360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sz="5000" dirty="0"/>
              <a:t>4 types of Ovarian Tumor</a:t>
            </a:r>
            <a:endParaRPr sz="5000" dirty="0"/>
          </a:p>
        </p:txBody>
      </p:sp>
      <p:sp>
        <p:nvSpPr>
          <p:cNvPr id="13" name="mod-icon-1">
            <a:extLst>
              <a:ext uri="{FF2B5EF4-FFF2-40B4-BE49-F238E27FC236}">
                <a16:creationId xmlns:a16="http://schemas.microsoft.com/office/drawing/2014/main" id="{66C2E961-83A5-58C6-6809-4DB01ACEF4B4}"/>
              </a:ext>
            </a:extLst>
          </p:cNvPr>
          <p:cNvSpPr>
            <a:spLocks noGrp="1"/>
          </p:cNvSpPr>
          <p:nvPr/>
        </p:nvSpPr>
        <p:spPr>
          <a:xfrm>
            <a:off x="1197362" y="4924427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mod-icon-text-1">
            <a:extLst>
              <a:ext uri="{FF2B5EF4-FFF2-40B4-BE49-F238E27FC236}">
                <a16:creationId xmlns:a16="http://schemas.microsoft.com/office/drawing/2014/main" id="{E0F6E81E-4502-BEC5-1B24-5B706D3CF9BB}"/>
              </a:ext>
            </a:extLst>
          </p:cNvPr>
          <p:cNvSpPr>
            <a:spLocks noGrp="1"/>
          </p:cNvSpPr>
          <p:nvPr/>
        </p:nvSpPr>
        <p:spPr>
          <a:xfrm>
            <a:off x="1197362" y="5086352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1</a:t>
            </a:r>
            <a:endParaRPr dirty="0"/>
          </a:p>
        </p:txBody>
      </p:sp>
      <p:sp>
        <p:nvSpPr>
          <p:cNvPr id="15" name="mod-title-1">
            <a:extLst>
              <a:ext uri="{FF2B5EF4-FFF2-40B4-BE49-F238E27FC236}">
                <a16:creationId xmlns:a16="http://schemas.microsoft.com/office/drawing/2014/main" id="{D2DAC97A-0D78-24E6-15A4-FB7C0C0DCB49}"/>
              </a:ext>
            </a:extLst>
          </p:cNvPr>
          <p:cNvSpPr>
            <a:spLocks noGrp="1"/>
          </p:cNvSpPr>
          <p:nvPr/>
        </p:nvSpPr>
        <p:spPr>
          <a:xfrm>
            <a:off x="1083062" y="6086476"/>
            <a:ext cx="4000500" cy="1152525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latin typeface="+mj-ea"/>
                <a:ea typeface="+mj-ea"/>
              </a:rPr>
              <a:t>Surface epithelial tumors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8" name="mod-icon-2">
            <a:extLst>
              <a:ext uri="{FF2B5EF4-FFF2-40B4-BE49-F238E27FC236}">
                <a16:creationId xmlns:a16="http://schemas.microsoft.com/office/drawing/2014/main" id="{AFB5EB47-4679-D7EC-6CEC-5EA0FE5EC1BD}"/>
              </a:ext>
            </a:extLst>
          </p:cNvPr>
          <p:cNvSpPr>
            <a:spLocks noGrp="1"/>
          </p:cNvSpPr>
          <p:nvPr/>
        </p:nvSpPr>
        <p:spPr>
          <a:xfrm>
            <a:off x="5359787" y="4924427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mod-icon-text-2">
            <a:extLst>
              <a:ext uri="{FF2B5EF4-FFF2-40B4-BE49-F238E27FC236}">
                <a16:creationId xmlns:a16="http://schemas.microsoft.com/office/drawing/2014/main" id="{252570CB-5756-D04D-C719-CD3D302B88E6}"/>
              </a:ext>
            </a:extLst>
          </p:cNvPr>
          <p:cNvSpPr>
            <a:spLocks noGrp="1"/>
          </p:cNvSpPr>
          <p:nvPr/>
        </p:nvSpPr>
        <p:spPr>
          <a:xfrm>
            <a:off x="5359787" y="5086352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2</a:t>
            </a:r>
            <a:endParaRPr dirty="0"/>
          </a:p>
        </p:txBody>
      </p:sp>
      <p:sp>
        <p:nvSpPr>
          <p:cNvPr id="20" name="mod-title-2">
            <a:extLst>
              <a:ext uri="{FF2B5EF4-FFF2-40B4-BE49-F238E27FC236}">
                <a16:creationId xmlns:a16="http://schemas.microsoft.com/office/drawing/2014/main" id="{C4B07361-69C2-8C7C-958B-FE10CCBB44A6}"/>
              </a:ext>
            </a:extLst>
          </p:cNvPr>
          <p:cNvSpPr>
            <a:spLocks noGrp="1"/>
          </p:cNvSpPr>
          <p:nvPr/>
        </p:nvSpPr>
        <p:spPr>
          <a:xfrm>
            <a:off x="5245487" y="6086476"/>
            <a:ext cx="4000500" cy="1152523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latin typeface="+mj-ea"/>
                <a:ea typeface="+mj-ea"/>
              </a:rPr>
              <a:t>Germ cell tumors</a:t>
            </a:r>
          </a:p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23" name="mod-bottom">
            <a:extLst>
              <a:ext uri="{FF2B5EF4-FFF2-40B4-BE49-F238E27FC236}">
                <a16:creationId xmlns:a16="http://schemas.microsoft.com/office/drawing/2014/main" id="{D0ED6106-F782-7D36-BFCB-E173AA49B474}"/>
              </a:ext>
            </a:extLst>
          </p:cNvPr>
          <p:cNvSpPr>
            <a:spLocks noGrp="1"/>
          </p:cNvSpPr>
          <p:nvPr/>
        </p:nvSpPr>
        <p:spPr>
          <a:xfrm>
            <a:off x="7179062" y="2309812"/>
            <a:ext cx="100965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2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dirty="0"/>
              <a:t>Based on Histogenesis</a:t>
            </a:r>
            <a:endParaRPr dirty="0"/>
          </a:p>
        </p:txBody>
      </p:sp>
      <p:sp>
        <p:nvSpPr>
          <p:cNvPr id="30" name="mod-icon-1">
            <a:extLst>
              <a:ext uri="{FF2B5EF4-FFF2-40B4-BE49-F238E27FC236}">
                <a16:creationId xmlns:a16="http://schemas.microsoft.com/office/drawing/2014/main" id="{ABC69C22-7396-DCA9-65A5-AEDC4DD982E4}"/>
              </a:ext>
            </a:extLst>
          </p:cNvPr>
          <p:cNvSpPr>
            <a:spLocks noGrp="1"/>
          </p:cNvSpPr>
          <p:nvPr/>
        </p:nvSpPr>
        <p:spPr>
          <a:xfrm>
            <a:off x="9360287" y="4924427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mod-icon-text-1">
            <a:extLst>
              <a:ext uri="{FF2B5EF4-FFF2-40B4-BE49-F238E27FC236}">
                <a16:creationId xmlns:a16="http://schemas.microsoft.com/office/drawing/2014/main" id="{C0D54418-E65F-4437-A13C-B1C8107FD32B}"/>
              </a:ext>
            </a:extLst>
          </p:cNvPr>
          <p:cNvSpPr>
            <a:spLocks noGrp="1"/>
          </p:cNvSpPr>
          <p:nvPr/>
        </p:nvSpPr>
        <p:spPr>
          <a:xfrm>
            <a:off x="9360287" y="5086352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3</a:t>
            </a:r>
            <a:endParaRPr dirty="0"/>
          </a:p>
        </p:txBody>
      </p:sp>
      <p:sp>
        <p:nvSpPr>
          <p:cNvPr id="32" name="mod-title-1">
            <a:extLst>
              <a:ext uri="{FF2B5EF4-FFF2-40B4-BE49-F238E27FC236}">
                <a16:creationId xmlns:a16="http://schemas.microsoft.com/office/drawing/2014/main" id="{4BCF927F-7026-3C18-BEC7-EB1F6CCA3CCC}"/>
              </a:ext>
            </a:extLst>
          </p:cNvPr>
          <p:cNvSpPr>
            <a:spLocks noGrp="1"/>
          </p:cNvSpPr>
          <p:nvPr/>
        </p:nvSpPr>
        <p:spPr>
          <a:xfrm>
            <a:off x="9245987" y="6086477"/>
            <a:ext cx="4000500" cy="1152524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latin typeface="+mj-ea"/>
                <a:ea typeface="+mj-ea"/>
              </a:rPr>
              <a:t>Sex cord-stromal tumors</a:t>
            </a:r>
          </a:p>
        </p:txBody>
      </p:sp>
      <p:sp>
        <p:nvSpPr>
          <p:cNvPr id="33" name="mod-icon-2">
            <a:extLst>
              <a:ext uri="{FF2B5EF4-FFF2-40B4-BE49-F238E27FC236}">
                <a16:creationId xmlns:a16="http://schemas.microsoft.com/office/drawing/2014/main" id="{C255C385-96B7-1206-4F8E-F1A203144CA7}"/>
              </a:ext>
            </a:extLst>
          </p:cNvPr>
          <p:cNvSpPr>
            <a:spLocks noGrp="1"/>
          </p:cNvSpPr>
          <p:nvPr/>
        </p:nvSpPr>
        <p:spPr>
          <a:xfrm>
            <a:off x="13389362" y="4924427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mod-icon-text-2">
            <a:extLst>
              <a:ext uri="{FF2B5EF4-FFF2-40B4-BE49-F238E27FC236}">
                <a16:creationId xmlns:a16="http://schemas.microsoft.com/office/drawing/2014/main" id="{E24E3FB8-1209-62FF-40F8-E9243D81F072}"/>
              </a:ext>
            </a:extLst>
          </p:cNvPr>
          <p:cNvSpPr>
            <a:spLocks noGrp="1"/>
          </p:cNvSpPr>
          <p:nvPr/>
        </p:nvSpPr>
        <p:spPr>
          <a:xfrm>
            <a:off x="13389362" y="5086352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4</a:t>
            </a:r>
            <a:endParaRPr dirty="0"/>
          </a:p>
        </p:txBody>
      </p:sp>
      <p:sp>
        <p:nvSpPr>
          <p:cNvPr id="35" name="mod-title-2">
            <a:extLst>
              <a:ext uri="{FF2B5EF4-FFF2-40B4-BE49-F238E27FC236}">
                <a16:creationId xmlns:a16="http://schemas.microsoft.com/office/drawing/2014/main" id="{52606B8C-C5F1-3FAF-E3D8-A5FE51E617CD}"/>
              </a:ext>
            </a:extLst>
          </p:cNvPr>
          <p:cNvSpPr>
            <a:spLocks noGrp="1"/>
          </p:cNvSpPr>
          <p:nvPr/>
        </p:nvSpPr>
        <p:spPr>
          <a:xfrm>
            <a:off x="13275062" y="6086476"/>
            <a:ext cx="4000500" cy="1152525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latin typeface="+mj-ea"/>
                <a:ea typeface="+mj-ea"/>
              </a:rPr>
              <a:t>Metastatic ovarian tumors</a:t>
            </a:r>
            <a:endParaRPr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9052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916D-5001-978D-8E6D-D380BE51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207C0254-7E1A-D1C5-214C-6DEDEBA42D88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1FB2FE69-8A93-46AE-DF18-C82D14AA656C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A75DB706-157B-AA3B-AD18-12C8C731C348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CC3F8901-C80D-D9F6-9221-282A476F1BC7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53694C40-D473-C00F-9837-6417999224B9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FD26DD58-8016-C4DF-409E-0807B2C2B97A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5425057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1) </a:t>
            </a:r>
            <a:r>
              <a:rPr lang="EN-US" altLang="ko-KR" sz="5000" dirty="0"/>
              <a:t>Surface Epithelial Tumors</a:t>
            </a:r>
            <a:endParaRPr sz="5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48A11571-4AD4-1BFB-B7FC-84C23C22BD7F}"/>
              </a:ext>
            </a:extLst>
          </p:cNvPr>
          <p:cNvSpPr>
            <a:spLocks noGrp="1"/>
          </p:cNvSpPr>
          <p:nvPr/>
        </p:nvSpPr>
        <p:spPr>
          <a:xfrm>
            <a:off x="816429" y="3657600"/>
            <a:ext cx="15425057" cy="5486399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surface epithelium </a:t>
            </a:r>
            <a:r>
              <a:rPr lang="ko-KR" altLang="en-US" sz="2200" dirty="0">
                <a:latin typeface="+mj-ea"/>
                <a:ea typeface="+mj-ea"/>
              </a:rPr>
              <a:t>및 </a:t>
            </a:r>
            <a:r>
              <a:rPr lang="en-US" altLang="ko-KR" sz="2200" dirty="0">
                <a:latin typeface="+mj-ea"/>
                <a:ea typeface="+mj-ea"/>
              </a:rPr>
              <a:t>cortical inclusion cyst</a:t>
            </a:r>
            <a:r>
              <a:rPr lang="ko-KR" altLang="en-US" sz="2200" dirty="0">
                <a:latin typeface="+mj-ea"/>
                <a:ea typeface="+mj-ea"/>
              </a:rPr>
              <a:t>에서 유래하는 종양</a:t>
            </a:r>
            <a:r>
              <a:rPr lang="en-US" altLang="ko-KR" sz="2200" dirty="0">
                <a:latin typeface="+mj-ea"/>
                <a:ea typeface="+mj-ea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개에서는 상대적으로 드물지만 가장 악성도가 높은 </a:t>
            </a:r>
            <a:r>
              <a:rPr lang="en-US" altLang="ko-KR" sz="2200" dirty="0">
                <a:latin typeface="+mj-ea"/>
                <a:ea typeface="+mj-ea"/>
              </a:rPr>
              <a:t>ovarian tumor group </a:t>
            </a:r>
            <a:r>
              <a:rPr lang="ko-KR" altLang="en-US" sz="2200" dirty="0">
                <a:latin typeface="+mj-ea"/>
                <a:ea typeface="+mj-ea"/>
              </a:rPr>
              <a:t>중 하나이다</a:t>
            </a:r>
            <a:r>
              <a:rPr lang="en-US" altLang="ko-KR" sz="2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200" dirty="0">
                <a:latin typeface="+mj-ea"/>
                <a:ea typeface="+mj-ea"/>
              </a:rPr>
              <a:t>[</a:t>
            </a:r>
            <a:r>
              <a:rPr lang="ko-KR" altLang="en-US" sz="2200" dirty="0">
                <a:latin typeface="+mj-ea"/>
                <a:ea typeface="+mj-ea"/>
              </a:rPr>
              <a:t>대표적인 종류</a:t>
            </a:r>
            <a:r>
              <a:rPr lang="en-US" altLang="ko-KR" sz="2200" dirty="0">
                <a:latin typeface="+mj-ea"/>
                <a:ea typeface="+mj-ea"/>
              </a:rPr>
              <a:t>]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ko-KR" sz="2200" dirty="0">
                <a:latin typeface="+mj-ea"/>
                <a:ea typeface="+mj-ea"/>
              </a:rPr>
              <a:t>Serous adenoma/carcinoma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ko-KR" sz="2200" dirty="0">
                <a:solidFill>
                  <a:srgbClr val="3333CC"/>
                </a:solidFill>
                <a:latin typeface="+mj-ea"/>
                <a:ea typeface="+mj-ea"/>
              </a:rPr>
              <a:t>Papillary adenocarcinoma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ko-KR" sz="2200" dirty="0">
                <a:latin typeface="+mj-ea"/>
                <a:ea typeface="+mj-ea"/>
              </a:rPr>
              <a:t>Cystadenocarcinoma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ko-KR" sz="2200" dirty="0">
                <a:latin typeface="+mj-ea"/>
                <a:ea typeface="+mj-ea"/>
              </a:rPr>
              <a:t>Undifferentiated carcinoma</a:t>
            </a:r>
          </a:p>
        </p:txBody>
      </p:sp>
    </p:spTree>
    <p:extLst>
      <p:ext uri="{BB962C8B-B14F-4D97-AF65-F5344CB8AC3E}">
        <p14:creationId xmlns:p14="http://schemas.microsoft.com/office/powerpoint/2010/main" val="310862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D3CA-52E5-CA46-F51A-DAFEDD3A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583DC412-2091-3354-06A5-502A3DF4CB41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4583A4DE-C42A-B66D-1D27-865D6BB79F8B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864F2B04-C7E2-EC55-C2BC-C6C858B02597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DE863E69-4DD5-D6BA-953E-197374EF34FA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13C12F0E-DD92-3944-9C94-7B357C5B2247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C6808551-CEBF-27D6-C5EC-AEC1FF5E64F2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5425057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Papillary </a:t>
            </a:r>
            <a:r>
              <a:rPr lang="EN-US" altLang="ko-KR" sz="5000" dirty="0"/>
              <a:t>adenocarcinoma</a:t>
            </a:r>
            <a:endParaRPr sz="5000" b="1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A950C6BD-98CF-1E01-8F8C-7E09BB4A2C24}"/>
              </a:ext>
            </a:extLst>
          </p:cNvPr>
          <p:cNvSpPr>
            <a:spLocks noGrp="1"/>
          </p:cNvSpPr>
          <p:nvPr/>
        </p:nvSpPr>
        <p:spPr>
          <a:xfrm>
            <a:off x="816429" y="3657600"/>
            <a:ext cx="15425057" cy="5486399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20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Ovarian tumor </a:t>
            </a:r>
            <a:r>
              <a:rPr lang="ko-KR" altLang="en-US" sz="2200" dirty="0">
                <a:latin typeface="+mj-ea"/>
                <a:ea typeface="+mj-ea"/>
              </a:rPr>
              <a:t>중에서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ko-KR" altLang="en-US" sz="2200" dirty="0">
                <a:latin typeface="+mj-ea"/>
                <a:ea typeface="+mj-ea"/>
              </a:rPr>
              <a:t>가장 흔하게 발생</a:t>
            </a:r>
            <a:endParaRPr lang="en-US" altLang="ko-KR" sz="2200" dirty="0">
              <a:latin typeface="+mj-ea"/>
              <a:ea typeface="+mj-ea"/>
            </a:endParaRPr>
          </a:p>
          <a:p>
            <a:pPr marL="342900" indent="-342900">
              <a:lnSpc>
                <a:spcPct val="20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대부분 </a:t>
            </a:r>
            <a:r>
              <a:rPr lang="ko-KR" altLang="en-US" sz="2200" dirty="0" err="1">
                <a:latin typeface="+mj-ea"/>
                <a:ea typeface="+mj-ea"/>
              </a:rPr>
              <a:t>표면하</a:t>
            </a:r>
            <a:r>
              <a:rPr lang="ko-KR" altLang="en-US" sz="2200" dirty="0">
                <a:latin typeface="+mj-ea"/>
                <a:ea typeface="+mj-ea"/>
              </a:rPr>
              <a:t> 상피 구조</a:t>
            </a:r>
            <a:r>
              <a:rPr lang="en-US" altLang="ko-KR" sz="2200" dirty="0">
                <a:latin typeface="+mj-ea"/>
                <a:ea typeface="+mj-ea"/>
              </a:rPr>
              <a:t>(subsurface epithelial structures, SES)</a:t>
            </a:r>
            <a:r>
              <a:rPr lang="ko-KR" altLang="en-US" sz="2200" dirty="0">
                <a:latin typeface="+mj-ea"/>
                <a:ea typeface="+mj-ea"/>
              </a:rPr>
              <a:t>에서 유래</a:t>
            </a:r>
            <a:endParaRPr lang="en-US" altLang="ko-KR" sz="2200" dirty="0">
              <a:latin typeface="+mj-ea"/>
              <a:ea typeface="+mj-ea"/>
            </a:endParaRPr>
          </a:p>
          <a:p>
            <a:pPr marL="342900" indent="-342900">
              <a:lnSpc>
                <a:spcPct val="20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b="1" dirty="0">
                <a:solidFill>
                  <a:srgbClr val="3333CC"/>
                </a:solidFill>
                <a:latin typeface="+mj-ea"/>
                <a:ea typeface="+mj-ea"/>
              </a:rPr>
              <a:t>cystic cavity </a:t>
            </a:r>
            <a:r>
              <a:rPr lang="ko-KR" altLang="en-US" sz="2200" b="1" dirty="0">
                <a:solidFill>
                  <a:srgbClr val="3333CC"/>
                </a:solidFill>
                <a:latin typeface="+mj-ea"/>
                <a:ea typeface="+mj-ea"/>
              </a:rPr>
              <a:t>내강으로 돌출되는 </a:t>
            </a:r>
            <a:r>
              <a:rPr lang="en-US" altLang="ko-KR" sz="2200" b="1" dirty="0">
                <a:solidFill>
                  <a:srgbClr val="3333CC"/>
                </a:solidFill>
                <a:latin typeface="+mj-ea"/>
                <a:ea typeface="+mj-ea"/>
              </a:rPr>
              <a:t>arboriform</a:t>
            </a:r>
            <a:r>
              <a:rPr lang="ko-KR" altLang="en-US" sz="2200" b="1" dirty="0">
                <a:solidFill>
                  <a:srgbClr val="3333CC"/>
                </a:solidFill>
                <a:latin typeface="+mj-ea"/>
                <a:ea typeface="+mj-ea"/>
              </a:rPr>
              <a:t>의 </a:t>
            </a:r>
            <a:r>
              <a:rPr lang="en-US" altLang="ko-KR" sz="2200" b="1" dirty="0">
                <a:solidFill>
                  <a:srgbClr val="3333CC"/>
                </a:solidFill>
                <a:latin typeface="+mj-ea"/>
                <a:ea typeface="+mj-ea"/>
              </a:rPr>
              <a:t>papillae</a:t>
            </a:r>
            <a:r>
              <a:rPr lang="ko-KR" altLang="en-US" sz="2200" dirty="0">
                <a:solidFill>
                  <a:srgbClr val="3333CC"/>
                </a:solidFill>
                <a:latin typeface="+mj-ea"/>
                <a:ea typeface="+mj-ea"/>
              </a:rPr>
              <a:t> 구조가 특징</a:t>
            </a:r>
            <a:endParaRPr lang="en-US" altLang="ko-KR" sz="2200" dirty="0">
              <a:solidFill>
                <a:srgbClr val="3333CC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20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b="1" dirty="0">
                <a:latin typeface="+mj-ea"/>
                <a:ea typeface="+mj-ea"/>
              </a:rPr>
              <a:t>주로 </a:t>
            </a:r>
            <a:r>
              <a:rPr lang="en-US" altLang="ko-KR" sz="2200" b="1" dirty="0">
                <a:solidFill>
                  <a:srgbClr val="3333CC"/>
                </a:solidFill>
                <a:latin typeface="+mj-ea"/>
                <a:ea typeface="+mj-ea"/>
              </a:rPr>
              <a:t>cystic</a:t>
            </a:r>
            <a:r>
              <a:rPr lang="ko-KR" altLang="en-US" sz="2200" b="1" dirty="0">
                <a:solidFill>
                  <a:srgbClr val="3333CC"/>
                </a:solidFill>
                <a:latin typeface="+mj-ea"/>
                <a:ea typeface="+mj-ea"/>
              </a:rPr>
              <a:t>하며 </a:t>
            </a:r>
            <a:r>
              <a:rPr lang="en-US" altLang="ko-KR" sz="2200" b="1" dirty="0">
                <a:solidFill>
                  <a:srgbClr val="3333CC"/>
                </a:solidFill>
                <a:latin typeface="+mj-ea"/>
                <a:ea typeface="+mj-ea"/>
              </a:rPr>
              <a:t>multinodular </a:t>
            </a:r>
            <a:r>
              <a:rPr lang="ko-KR" altLang="en-US" sz="2200" b="1" dirty="0">
                <a:solidFill>
                  <a:srgbClr val="3333CC"/>
                </a:solidFill>
                <a:latin typeface="+mj-ea"/>
                <a:ea typeface="+mj-ea"/>
              </a:rPr>
              <a:t>형태</a:t>
            </a:r>
            <a:endParaRPr lang="en-US" altLang="ko-KR" sz="2200" b="1" dirty="0">
              <a:solidFill>
                <a:srgbClr val="3333CC"/>
              </a:solidFill>
              <a:latin typeface="+mj-ea"/>
              <a:ea typeface="+mj-ea"/>
            </a:endParaRPr>
          </a:p>
          <a:p>
            <a:pPr marL="800100" lvl="1" indent="-342900">
              <a:lnSpc>
                <a:spcPct val="20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→ </a:t>
            </a:r>
            <a:r>
              <a:rPr lang="ko-KR" altLang="en-US" sz="2200" dirty="0">
                <a:latin typeface="+mj-ea"/>
                <a:ea typeface="+mj-ea"/>
              </a:rPr>
              <a:t>난소가 커지거나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ko-KR" altLang="en-US" sz="2200" dirty="0">
                <a:latin typeface="+mj-ea"/>
                <a:ea typeface="+mj-ea"/>
              </a:rPr>
              <a:t>난소 표면에서 돌출되는 </a:t>
            </a:r>
            <a:r>
              <a:rPr lang="ko-KR" altLang="en-US" sz="2200" dirty="0" err="1">
                <a:latin typeface="+mj-ea"/>
                <a:ea typeface="+mj-ea"/>
              </a:rPr>
              <a:t>증식성</a:t>
            </a:r>
            <a:r>
              <a:rPr lang="ko-KR" altLang="en-US" sz="2200" dirty="0">
                <a:latin typeface="+mj-ea"/>
                <a:ea typeface="+mj-ea"/>
              </a:rPr>
              <a:t> 성장</a:t>
            </a:r>
            <a:endParaRPr lang="en-US" altLang="ko-KR" sz="2200" dirty="0">
              <a:latin typeface="+mj-ea"/>
              <a:ea typeface="+mj-ea"/>
            </a:endParaRPr>
          </a:p>
          <a:p>
            <a:pPr marL="342900" indent="-342900">
              <a:lnSpc>
                <a:spcPct val="20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endParaRPr lang="en-US" altLang="ko-KR" sz="2200" dirty="0"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D64B9AA-A154-9215-0ABE-ECC3742050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383538" y="3918547"/>
            <a:ext cx="6235545" cy="5116905"/>
          </a:xfrm>
          <a:prstGeom prst="rect">
            <a:avLst/>
          </a:prstGeom>
        </p:spPr>
      </p:pic>
      <p:sp>
        <p:nvSpPr>
          <p:cNvPr id="12" name="bottom-note-bg">
            <a:extLst>
              <a:ext uri="{FF2B5EF4-FFF2-40B4-BE49-F238E27FC236}">
                <a16:creationId xmlns:a16="http://schemas.microsoft.com/office/drawing/2014/main" id="{996DF9A7-17B6-1135-CB1D-26A919B7570F}"/>
              </a:ext>
            </a:extLst>
          </p:cNvPr>
          <p:cNvSpPr>
            <a:spLocks noGrp="1"/>
          </p:cNvSpPr>
          <p:nvPr/>
        </p:nvSpPr>
        <p:spPr>
          <a:xfrm>
            <a:off x="914400" y="8207298"/>
            <a:ext cx="7915274" cy="841452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bottom-note-accent">
            <a:extLst>
              <a:ext uri="{FF2B5EF4-FFF2-40B4-BE49-F238E27FC236}">
                <a16:creationId xmlns:a16="http://schemas.microsoft.com/office/drawing/2014/main" id="{41713CF4-F454-EB70-0590-09890C14E479}"/>
              </a:ext>
            </a:extLst>
          </p:cNvPr>
          <p:cNvSpPr>
            <a:spLocks noGrp="1"/>
          </p:cNvSpPr>
          <p:nvPr/>
        </p:nvSpPr>
        <p:spPr>
          <a:xfrm>
            <a:off x="914399" y="8207298"/>
            <a:ext cx="76201" cy="841452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bottom-note">
            <a:extLst>
              <a:ext uri="{FF2B5EF4-FFF2-40B4-BE49-F238E27FC236}">
                <a16:creationId xmlns:a16="http://schemas.microsoft.com/office/drawing/2014/main" id="{78950987-96FA-7549-B596-420ECE857B3E}"/>
              </a:ext>
            </a:extLst>
          </p:cNvPr>
          <p:cNvSpPr>
            <a:spLocks noGrp="1"/>
          </p:cNvSpPr>
          <p:nvPr/>
        </p:nvSpPr>
        <p:spPr>
          <a:xfrm>
            <a:off x="1276351" y="8460990"/>
            <a:ext cx="8953500" cy="323850"/>
          </a:xfrm>
          <a:prstGeom prst="rect">
            <a:avLst/>
          </a:prstGeom>
        </p:spPr>
        <p:txBody>
          <a:bodyPr anchor="ctr"/>
          <a:lstStyle/>
          <a:p>
            <a:pPr>
              <a:defRPr sz="1800" b="0">
                <a:solidFill>
                  <a:srgbClr val="20243A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sz="2200" dirty="0"/>
              <a:t>C</a:t>
            </a:r>
            <a:r>
              <a:rPr lang="ko-KR" altLang="ko-KR" sz="2200" dirty="0" err="1"/>
              <a:t>omplications</a:t>
            </a:r>
            <a:r>
              <a:rPr lang="en-US" altLang="ko-KR" sz="2200" dirty="0"/>
              <a:t>: </a:t>
            </a:r>
            <a:r>
              <a:rPr lang="ko-KR" altLang="en-US" sz="2200" dirty="0"/>
              <a:t>복강 내 파종</a:t>
            </a:r>
            <a:r>
              <a:rPr lang="en-US" altLang="ko-KR" sz="2200" dirty="0"/>
              <a:t>, </a:t>
            </a:r>
            <a:r>
              <a:rPr lang="ko-KR" altLang="en-US" sz="2200" dirty="0"/>
              <a:t>악성 복수</a:t>
            </a:r>
            <a:r>
              <a:rPr lang="en-US" altLang="ko-KR" sz="2200" dirty="0"/>
              <a:t>, </a:t>
            </a:r>
            <a:r>
              <a:rPr lang="ko-KR" altLang="en-US" sz="2200" dirty="0"/>
              <a:t>흉수</a:t>
            </a:r>
            <a:r>
              <a:rPr lang="en-US" altLang="ko-KR" sz="2200" dirty="0"/>
              <a:t>, </a:t>
            </a:r>
            <a:r>
              <a:rPr lang="ko-KR" altLang="en-US" sz="2200" dirty="0"/>
              <a:t>폐 전이</a:t>
            </a:r>
            <a:endParaRPr sz="2200" dirty="0"/>
          </a:p>
        </p:txBody>
      </p:sp>
      <p:sp>
        <p:nvSpPr>
          <p:cNvPr id="16" name="kicker-06">
            <a:extLst>
              <a:ext uri="{FF2B5EF4-FFF2-40B4-BE49-F238E27FC236}">
                <a16:creationId xmlns:a16="http://schemas.microsoft.com/office/drawing/2014/main" id="{F19DB2EE-6241-BE16-92B6-7DB74BFF4592}"/>
              </a:ext>
            </a:extLst>
          </p:cNvPr>
          <p:cNvSpPr>
            <a:spLocks noGrp="1"/>
          </p:cNvSpPr>
          <p:nvPr/>
        </p:nvSpPr>
        <p:spPr>
          <a:xfrm>
            <a:off x="14474283" y="201419"/>
            <a:ext cx="3813717" cy="311538"/>
          </a:xfrm>
          <a:prstGeom prst="rect">
            <a:avLst/>
          </a:prstGeom>
        </p:spPr>
        <p:txBody>
          <a:bodyPr anchor="ctr"/>
          <a:lstStyle/>
          <a:p>
            <a:pPr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1) </a:t>
            </a:r>
            <a:r>
              <a:rPr lang="EN-US" altLang="ko-KR" dirty="0"/>
              <a:t>Surface Epithelial Tumors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8696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8690-A831-2B81-16F4-05306DF4C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E187D7E8-9DFD-8E72-F4AC-4B591ACFD98E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8D26F66B-F941-38AC-1F06-8FC4A856A1B3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02ECE047-B588-CD22-92AC-719BD81F6002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57BEADAC-46CE-6081-B2DF-9AF279FC32C8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EDBEC1A1-868D-FA39-F6AC-AD0CCD48B034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11E533EB-0697-12B3-F520-CC497DAFE898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5425057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Etiology</a:t>
            </a:r>
            <a:endParaRPr sz="5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3EDACE62-FBD6-59B5-CEB1-60522D5DA817}"/>
              </a:ext>
            </a:extLst>
          </p:cNvPr>
          <p:cNvSpPr>
            <a:spLocks noGrp="1"/>
          </p:cNvSpPr>
          <p:nvPr/>
        </p:nvSpPr>
        <p:spPr>
          <a:xfrm>
            <a:off x="816429" y="3333750"/>
            <a:ext cx="16958615" cy="5810249"/>
          </a:xfrm>
          <a:prstGeom prst="rect">
            <a:avLst/>
          </a:prstGeom>
        </p:spPr>
        <p:txBody>
          <a:bodyPr anchor="t"/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200" dirty="0">
                <a:latin typeface="+mj-ea"/>
                <a:ea typeface="+mj-ea"/>
              </a:rPr>
              <a:t>(1) Repeated ovulation theory</a:t>
            </a:r>
            <a:r>
              <a:rPr lang="ko-KR" altLang="en-US" sz="2200" dirty="0">
                <a:latin typeface="+mj-ea"/>
                <a:ea typeface="+mj-ea"/>
              </a:rPr>
              <a:t>       		</a:t>
            </a:r>
          </a:p>
          <a:p>
            <a:pPr algn="just">
              <a:lnSpc>
                <a:spcPct val="160000"/>
              </a:lnSpc>
              <a:defRPr/>
            </a:pPr>
            <a:r>
              <a:rPr lang="ko-KR" altLang="en-US" sz="2200" dirty="0">
                <a:latin typeface="+mj-ea"/>
                <a:ea typeface="+mj-ea"/>
              </a:rPr>
              <a:t>난소 표면이 찢어짐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ko-KR" altLang="en-US" sz="2200" dirty="0">
                <a:latin typeface="+mj-ea"/>
              </a:rPr>
              <a:t>→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rgbClr val="3333CC"/>
                </a:solidFill>
                <a:latin typeface="+mj-ea"/>
                <a:ea typeface="+mj-ea"/>
              </a:rPr>
              <a:t>(1)ROS, (2)Inflammatory pathway activation </a:t>
            </a:r>
            <a:r>
              <a:rPr lang="ko-KR" altLang="en-US" sz="2200" dirty="0">
                <a:latin typeface="+mj-ea"/>
                <a:ea typeface="+mj-ea"/>
              </a:rPr>
              <a:t>→ 난소 표면 상피의 반복적인 손상</a:t>
            </a:r>
            <a:r>
              <a:rPr lang="en-US" altLang="ko-KR" sz="2200" dirty="0">
                <a:latin typeface="+mj-ea"/>
                <a:ea typeface="+mj-ea"/>
              </a:rPr>
              <a:t>/</a:t>
            </a:r>
            <a:r>
              <a:rPr lang="ko-KR" altLang="en-US" sz="2200" dirty="0">
                <a:latin typeface="+mj-ea"/>
                <a:ea typeface="+mj-ea"/>
              </a:rPr>
              <a:t>재생 </a:t>
            </a:r>
            <a:r>
              <a:rPr lang="en-US" altLang="ko-KR" sz="2200" dirty="0">
                <a:latin typeface="+mj-ea"/>
                <a:ea typeface="+mj-ea"/>
              </a:rPr>
              <a:t>→ DNA </a:t>
            </a:r>
            <a:r>
              <a:rPr lang="ko-KR" altLang="en-US" sz="2200" dirty="0">
                <a:latin typeface="+mj-ea"/>
                <a:ea typeface="+mj-ea"/>
              </a:rPr>
              <a:t>손상 축적</a:t>
            </a:r>
            <a:endParaRPr lang="en-US" altLang="ko-KR" sz="2200" dirty="0">
              <a:latin typeface="+mj-ea"/>
              <a:ea typeface="+mj-ea"/>
            </a:endParaRPr>
          </a:p>
          <a:p>
            <a:pPr algn="just">
              <a:lnSpc>
                <a:spcPct val="160000"/>
              </a:lnSpc>
              <a:defRPr/>
            </a:pPr>
            <a:endParaRPr lang="en-US" altLang="ko-KR" sz="2200" dirty="0">
              <a:latin typeface="+mj-ea"/>
              <a:ea typeface="+mj-ea"/>
            </a:endParaRPr>
          </a:p>
          <a:p>
            <a:pPr algn="just">
              <a:lnSpc>
                <a:spcPct val="160000"/>
              </a:lnSpc>
              <a:defRPr/>
            </a:pPr>
            <a:endParaRPr lang="en-US" altLang="ko-KR" sz="2200" dirty="0">
              <a:latin typeface="+mj-ea"/>
              <a:ea typeface="+mj-ea"/>
            </a:endParaRPr>
          </a:p>
          <a:p>
            <a:pPr algn="just">
              <a:lnSpc>
                <a:spcPct val="160000"/>
              </a:lnSpc>
              <a:defRPr/>
            </a:pPr>
            <a:endParaRPr lang="ko-KR" altLang="en-US" sz="2200" dirty="0">
              <a:latin typeface="+mj-ea"/>
              <a:ea typeface="+mj-ea"/>
            </a:endParaRPr>
          </a:p>
        </p:txBody>
      </p:sp>
      <p:sp>
        <p:nvSpPr>
          <p:cNvPr id="8" name="kicker-06">
            <a:extLst>
              <a:ext uri="{FF2B5EF4-FFF2-40B4-BE49-F238E27FC236}">
                <a16:creationId xmlns:a16="http://schemas.microsoft.com/office/drawing/2014/main" id="{6E81DC16-B4FA-9CAD-1F69-83EBCAAF967D}"/>
              </a:ext>
            </a:extLst>
          </p:cNvPr>
          <p:cNvSpPr>
            <a:spLocks noGrp="1"/>
          </p:cNvSpPr>
          <p:nvPr/>
        </p:nvSpPr>
        <p:spPr>
          <a:xfrm>
            <a:off x="14474283" y="201419"/>
            <a:ext cx="3813717" cy="311538"/>
          </a:xfrm>
          <a:prstGeom prst="rect">
            <a:avLst/>
          </a:prstGeom>
        </p:spPr>
        <p:txBody>
          <a:bodyPr anchor="ctr"/>
          <a:lstStyle/>
          <a:p>
            <a:pPr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1) </a:t>
            </a:r>
            <a:r>
              <a:rPr lang="EN-US" altLang="ko-KR" dirty="0"/>
              <a:t>Surface Epithelial Tumors</a:t>
            </a:r>
            <a:endParaRPr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09F6A4-1916-6B84-3B5D-16255CAD3D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16429" y="5229379"/>
            <a:ext cx="5651278" cy="40773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5CD32C9-8BFE-4749-08D2-620FA10C6B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833306" y="5218299"/>
            <a:ext cx="5484636" cy="4032021"/>
          </a:xfrm>
          <a:prstGeom prst="rect">
            <a:avLst/>
          </a:prstGeom>
        </p:spPr>
      </p:pic>
      <p:sp>
        <p:nvSpPr>
          <p:cNvPr id="12" name="compare-pill">
            <a:extLst>
              <a:ext uri="{FF2B5EF4-FFF2-40B4-BE49-F238E27FC236}">
                <a16:creationId xmlns:a16="http://schemas.microsoft.com/office/drawing/2014/main" id="{24A98F15-2090-B52C-6C67-82A4E6CC44B7}"/>
              </a:ext>
            </a:extLst>
          </p:cNvPr>
          <p:cNvSpPr>
            <a:spLocks noGrp="1"/>
          </p:cNvSpPr>
          <p:nvPr/>
        </p:nvSpPr>
        <p:spPr>
          <a:xfrm>
            <a:off x="12930236" y="5979832"/>
            <a:ext cx="4630543" cy="2794542"/>
          </a:xfrm>
          <a:prstGeom prst="roundRect">
            <a:avLst>
              <a:gd name="adj" fmla="val 13793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635C07-F5EB-8DA4-AAAA-2FC8C57D157D}"/>
              </a:ext>
            </a:extLst>
          </p:cNvPr>
          <p:cNvSpPr txBox="1"/>
          <p:nvPr/>
        </p:nvSpPr>
        <p:spPr>
          <a:xfrm>
            <a:off x="13295835" y="6177123"/>
            <a:ext cx="3961472" cy="2253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즉</a:t>
            </a:r>
            <a:r>
              <a:rPr lang="en-US" altLang="ko-KR" sz="2400" dirty="0">
                <a:latin typeface="+mj-ea"/>
                <a:ea typeface="+mj-ea"/>
              </a:rPr>
              <a:t>, ovulation 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→ </a:t>
            </a:r>
            <a:r>
              <a:rPr lang="en-US" altLang="ko-KR" sz="2400" dirty="0">
                <a:latin typeface="+mj-ea"/>
                <a:ea typeface="+mj-ea"/>
              </a:rPr>
              <a:t>epithelial rupture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→ </a:t>
            </a:r>
            <a:r>
              <a:rPr lang="en-US" altLang="ko-KR" sz="2400" dirty="0">
                <a:latin typeface="+mj-ea"/>
                <a:ea typeface="+mj-ea"/>
              </a:rPr>
              <a:t>repair proliferation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j-ea"/>
                <a:ea typeface="+mj-ea"/>
              </a:rPr>
              <a:t>→ </a:t>
            </a:r>
            <a:r>
              <a:rPr lang="en-US" altLang="ko-KR" sz="2400" dirty="0">
                <a:latin typeface="+mj-ea"/>
                <a:ea typeface="+mj-ea"/>
              </a:rPr>
              <a:t>mutation accumulation</a:t>
            </a:r>
            <a:endParaRPr lang="ko-KR" alt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CD8B52-1505-EB8F-43A3-88BFADD93F44}"/>
              </a:ext>
            </a:extLst>
          </p:cNvPr>
          <p:cNvSpPr txBox="1"/>
          <p:nvPr/>
        </p:nvSpPr>
        <p:spPr>
          <a:xfrm>
            <a:off x="816429" y="9256975"/>
            <a:ext cx="5651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The genomics of oxidative DNA damage, repair, and resulting mutagenesis</a:t>
            </a:r>
          </a:p>
          <a:p>
            <a:pPr algn="ctr">
              <a:defRPr/>
            </a:pP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Computational and Structural Biotechnology Journal, 2020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D5135-7209-B09A-A485-60FD4D2F1BF2}"/>
              </a:ext>
            </a:extLst>
          </p:cNvPr>
          <p:cNvSpPr txBox="1"/>
          <p:nvPr/>
        </p:nvSpPr>
        <p:spPr>
          <a:xfrm>
            <a:off x="7239000" y="9306768"/>
            <a:ext cx="4857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Inflammation and DNA damage: cause, effect or both, NATURE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reviews Rheumatology, 2023</a:t>
            </a:r>
          </a:p>
        </p:txBody>
      </p:sp>
      <p:sp>
        <p:nvSpPr>
          <p:cNvPr id="18" name="cclr-diagram-caption">
            <a:extLst>
              <a:ext uri="{FF2B5EF4-FFF2-40B4-BE49-F238E27FC236}">
                <a16:creationId xmlns:a16="http://schemas.microsoft.com/office/drawing/2014/main" id="{D76893F1-C5D7-B740-D52E-F412D1AF90B5}"/>
              </a:ext>
            </a:extLst>
          </p:cNvPr>
          <p:cNvSpPr>
            <a:spLocks noGrp="1"/>
          </p:cNvSpPr>
          <p:nvPr/>
        </p:nvSpPr>
        <p:spPr>
          <a:xfrm>
            <a:off x="816429" y="4742522"/>
            <a:ext cx="5651278" cy="352425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1275" b="0">
                <a:solidFill>
                  <a:srgbClr val="74798C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sz="1500" dirty="0">
                <a:solidFill>
                  <a:srgbClr val="3333CC"/>
                </a:solidFill>
              </a:rPr>
              <a:t>ROS</a:t>
            </a:r>
            <a:endParaRPr sz="1500" dirty="0">
              <a:solidFill>
                <a:srgbClr val="3333CC"/>
              </a:solidFill>
            </a:endParaRPr>
          </a:p>
        </p:txBody>
      </p:sp>
      <p:sp>
        <p:nvSpPr>
          <p:cNvPr id="19" name="cclr-diagram-caption">
            <a:extLst>
              <a:ext uri="{FF2B5EF4-FFF2-40B4-BE49-F238E27FC236}">
                <a16:creationId xmlns:a16="http://schemas.microsoft.com/office/drawing/2014/main" id="{7FF22B2D-3E1B-51D7-134A-D5C1608BA762}"/>
              </a:ext>
            </a:extLst>
          </p:cNvPr>
          <p:cNvSpPr>
            <a:spLocks noGrp="1"/>
          </p:cNvSpPr>
          <p:nvPr/>
        </p:nvSpPr>
        <p:spPr>
          <a:xfrm>
            <a:off x="6749985" y="4742049"/>
            <a:ext cx="5651278" cy="352425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1275" b="0">
                <a:solidFill>
                  <a:srgbClr val="74798C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sz="1500" dirty="0">
                <a:solidFill>
                  <a:srgbClr val="3333CC"/>
                </a:solidFill>
              </a:rPr>
              <a:t>Inflammatory</a:t>
            </a:r>
            <a:r>
              <a:rPr lang="ko-KR" altLang="en-US" sz="1500" dirty="0">
                <a:solidFill>
                  <a:srgbClr val="3333CC"/>
                </a:solidFill>
              </a:rPr>
              <a:t> </a:t>
            </a:r>
            <a:r>
              <a:rPr lang="en-US" altLang="ko-KR" sz="1500" dirty="0">
                <a:solidFill>
                  <a:srgbClr val="3333CC"/>
                </a:solidFill>
              </a:rPr>
              <a:t>cytokine</a:t>
            </a:r>
            <a:endParaRPr sz="1500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0680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0F5B3-9F18-26BA-EA38-D7AFFD3DB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8202C094-3D04-CF7B-F320-03A5F2CC9833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6E42AF55-DE83-D927-1A20-6ADC90690D0B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32E26E0B-D767-6B9A-E616-3E88B8DB0F5B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3C61D264-62D5-6952-B925-49D9AA75D716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2D05B2DC-C6A7-3C9E-4D4D-AA158B2279E3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C0E5F9E2-28A7-314B-8698-48627C9E248F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6057757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Pathogenesis  +  Related</a:t>
            </a:r>
            <a:r>
              <a:rPr lang="ko-KR" altLang="en-US" sz="5000" dirty="0"/>
              <a:t> </a:t>
            </a:r>
            <a:r>
              <a:rPr lang="en-US" altLang="ko-KR" sz="5000" dirty="0"/>
              <a:t>Clinical</a:t>
            </a:r>
            <a:r>
              <a:rPr lang="ko-KR" altLang="en-US" sz="5000" dirty="0"/>
              <a:t> </a:t>
            </a:r>
            <a:r>
              <a:rPr lang="en-US" altLang="ko-KR" sz="5000" dirty="0"/>
              <a:t>Signs</a:t>
            </a:r>
            <a:endParaRPr sz="5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F29E3DD9-B81A-AD82-8DA9-04C66F03985A}"/>
              </a:ext>
            </a:extLst>
          </p:cNvPr>
          <p:cNvSpPr>
            <a:spLocks noGrp="1"/>
          </p:cNvSpPr>
          <p:nvPr/>
        </p:nvSpPr>
        <p:spPr>
          <a:xfrm>
            <a:off x="816429" y="3333750"/>
            <a:ext cx="16958615" cy="5810249"/>
          </a:xfrm>
          <a:prstGeom prst="rect">
            <a:avLst/>
          </a:prstGeom>
        </p:spPr>
        <p:txBody>
          <a:bodyPr anchor="t"/>
          <a:lstStyle/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초기 단계</a:t>
            </a: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표면 상피가 증식하며 </a:t>
            </a:r>
            <a:r>
              <a:rPr lang="en-US" altLang="ko-KR" sz="2200" dirty="0">
                <a:latin typeface="+mj-ea"/>
                <a:ea typeface="+mj-ea"/>
              </a:rPr>
              <a:t>cystic lesion </a:t>
            </a:r>
            <a:r>
              <a:rPr lang="ko-KR" altLang="en-US" sz="2200" dirty="0">
                <a:latin typeface="+mj-ea"/>
                <a:ea typeface="+mj-ea"/>
              </a:rPr>
              <a:t>또는 </a:t>
            </a:r>
            <a:r>
              <a:rPr lang="en-US" altLang="ko-KR" sz="2200" dirty="0">
                <a:latin typeface="+mj-ea"/>
                <a:ea typeface="+mj-ea"/>
              </a:rPr>
              <a:t>papillary lesion </a:t>
            </a:r>
            <a:r>
              <a:rPr lang="ko-KR" altLang="en-US" sz="2200" dirty="0">
                <a:latin typeface="+mj-ea"/>
                <a:ea typeface="+mj-ea"/>
              </a:rPr>
              <a:t>형성</a:t>
            </a:r>
            <a:endParaRPr lang="en-US" altLang="ko-KR" sz="2200" dirty="0">
              <a:latin typeface="+mj-ea"/>
              <a:ea typeface="+mj-ea"/>
            </a:endParaRP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endParaRPr lang="en-US" altLang="ko-KR" sz="2200" dirty="0">
              <a:latin typeface="+mj-ea"/>
              <a:ea typeface="+mj-ea"/>
            </a:endParaRP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종양 진행</a:t>
            </a: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loss of polarity, E-cadherin </a:t>
            </a:r>
            <a:r>
              <a:rPr lang="ko-KR" altLang="en-US" sz="2200" dirty="0">
                <a:latin typeface="+mj-ea"/>
                <a:ea typeface="+mj-ea"/>
              </a:rPr>
              <a:t>감소</a:t>
            </a:r>
            <a:r>
              <a:rPr lang="en-US" altLang="ko-KR" sz="2200" dirty="0">
                <a:latin typeface="+mj-ea"/>
                <a:ea typeface="+mj-ea"/>
              </a:rPr>
              <a:t>, EMT(epithelial-mesenchymal transition)</a:t>
            </a:r>
            <a:r>
              <a:rPr lang="ko-KR" altLang="en-US" sz="2200" dirty="0">
                <a:latin typeface="+mj-ea"/>
                <a:ea typeface="+mj-ea"/>
              </a:rPr>
              <a:t> 발생</a:t>
            </a:r>
            <a:endParaRPr lang="en-US" altLang="ko-KR" sz="2200" dirty="0">
              <a:latin typeface="+mj-ea"/>
              <a:ea typeface="+mj-ea"/>
            </a:endParaRPr>
          </a:p>
          <a:p>
            <a:pPr marL="34290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endParaRPr lang="en-US" altLang="ko-KR" sz="2200" dirty="0">
              <a:latin typeface="+mj-ea"/>
              <a:ea typeface="+mj-ea"/>
            </a:endParaRP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침습 및 전이</a:t>
            </a: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종양세포가 </a:t>
            </a:r>
            <a:r>
              <a:rPr lang="en-US" altLang="ko-KR" sz="2200" dirty="0">
                <a:latin typeface="+mj-ea"/>
                <a:ea typeface="+mj-ea"/>
              </a:rPr>
              <a:t>matrix metalloproteinase(MMP), 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VEGF, 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n-ea"/>
              </a:rPr>
              <a:t>TGF</a:t>
            </a:r>
            <a:r>
              <a:rPr lang="en-US" altLang="ko-KR" sz="2200" dirty="0"/>
              <a:t>-β</a:t>
            </a:r>
            <a:r>
              <a:rPr lang="ko-KR" altLang="en-US" sz="2200" dirty="0"/>
              <a:t> </a:t>
            </a:r>
            <a:r>
              <a:rPr lang="ko-KR" altLang="en-US" sz="2200" dirty="0">
                <a:latin typeface="+mj-ea"/>
                <a:ea typeface="+mj-ea"/>
              </a:rPr>
              <a:t>분비  </a:t>
            </a:r>
            <a:r>
              <a:rPr lang="en-US" altLang="ko-KR" sz="2200" dirty="0">
                <a:latin typeface="+mj-ea"/>
                <a:ea typeface="+mj-ea"/>
              </a:rPr>
              <a:t>-&gt;</a:t>
            </a:r>
            <a:r>
              <a:rPr lang="ko-KR" altLang="en-US" sz="2200" dirty="0">
                <a:latin typeface="+mj-ea"/>
                <a:ea typeface="+mj-ea"/>
              </a:rPr>
              <a:t>  </a:t>
            </a:r>
            <a:r>
              <a:rPr lang="ko-KR" altLang="en-US" sz="2200" dirty="0" err="1">
                <a:solidFill>
                  <a:srgbClr val="3333CC"/>
                </a:solidFill>
                <a:latin typeface="+mj-ea"/>
                <a:ea typeface="+mj-ea"/>
              </a:rPr>
              <a:t>기저막</a:t>
            </a:r>
            <a:r>
              <a:rPr lang="ko-KR" altLang="en-US" sz="2200" dirty="0">
                <a:solidFill>
                  <a:srgbClr val="3333CC"/>
                </a:solidFill>
                <a:latin typeface="+mj-ea"/>
                <a:ea typeface="+mj-ea"/>
              </a:rPr>
              <a:t> 분해 </a:t>
            </a:r>
            <a:r>
              <a:rPr lang="ko-KR" altLang="en-US" sz="2200" dirty="0">
                <a:latin typeface="+mj-ea"/>
                <a:ea typeface="+mj-ea"/>
              </a:rPr>
              <a:t>및 </a:t>
            </a:r>
            <a:r>
              <a:rPr lang="ko-KR" altLang="en-US" sz="2200" dirty="0" err="1">
                <a:solidFill>
                  <a:srgbClr val="3333CC"/>
                </a:solidFill>
                <a:latin typeface="+mj-ea"/>
                <a:ea typeface="+mj-ea"/>
              </a:rPr>
              <a:t>혈관신생</a:t>
            </a:r>
            <a:r>
              <a:rPr lang="ko-KR" altLang="en-US" sz="2200" dirty="0">
                <a:latin typeface="+mj-ea"/>
                <a:ea typeface="+mj-ea"/>
              </a:rPr>
              <a:t> 유도</a:t>
            </a:r>
            <a:endParaRPr lang="en-US" altLang="ko-KR" sz="2200" dirty="0">
              <a:latin typeface="+mj-ea"/>
              <a:ea typeface="+mj-ea"/>
            </a:endParaRP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특히 </a:t>
            </a:r>
            <a:r>
              <a:rPr lang="en-US" altLang="ko-KR" sz="2200" dirty="0" err="1">
                <a:solidFill>
                  <a:srgbClr val="3333CC"/>
                </a:solidFill>
                <a:latin typeface="+mj-ea"/>
                <a:ea typeface="+mj-ea"/>
              </a:rPr>
              <a:t>transcoelomic</a:t>
            </a:r>
            <a:r>
              <a:rPr lang="ko-KR" altLang="en-US" sz="2200" dirty="0">
                <a:solidFill>
                  <a:srgbClr val="3333CC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rgbClr val="3333CC"/>
                </a:solidFill>
                <a:latin typeface="+mj-ea"/>
                <a:ea typeface="+mj-ea"/>
              </a:rPr>
              <a:t>spread</a:t>
            </a:r>
            <a:r>
              <a:rPr lang="en-US" altLang="ko-KR" sz="2200" dirty="0">
                <a:latin typeface="+mj-ea"/>
                <a:ea typeface="+mj-ea"/>
              </a:rPr>
              <a:t>(Ovarian carcinoma</a:t>
            </a:r>
            <a:r>
              <a:rPr lang="ko-KR" altLang="en-US" sz="2200" dirty="0">
                <a:latin typeface="+mj-ea"/>
                <a:ea typeface="+mj-ea"/>
              </a:rPr>
              <a:t>의 가장 대표적인 전이방법</a:t>
            </a:r>
            <a:r>
              <a:rPr lang="en-US" altLang="ko-KR" sz="2200" dirty="0">
                <a:latin typeface="+mj-ea"/>
                <a:ea typeface="+mj-ea"/>
              </a:rPr>
              <a:t>), 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lymphatic dissemination, 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pleural metastasis</a:t>
            </a:r>
            <a:r>
              <a:rPr lang="ko-KR" altLang="en-US" sz="2200" dirty="0">
                <a:latin typeface="+mj-ea"/>
                <a:ea typeface="+mj-ea"/>
              </a:rPr>
              <a:t> 가 매우 흔하다</a:t>
            </a:r>
            <a:r>
              <a:rPr lang="en-US" altLang="ko-KR" sz="2200" dirty="0">
                <a:latin typeface="+mj-ea"/>
                <a:ea typeface="+mj-ea"/>
              </a:rPr>
              <a:t>.</a:t>
            </a:r>
          </a:p>
        </p:txBody>
      </p:sp>
      <p:sp>
        <p:nvSpPr>
          <p:cNvPr id="8" name="kicker-06">
            <a:extLst>
              <a:ext uri="{FF2B5EF4-FFF2-40B4-BE49-F238E27FC236}">
                <a16:creationId xmlns:a16="http://schemas.microsoft.com/office/drawing/2014/main" id="{82BE53A2-29B7-5205-86F4-A6DC6F39B87C}"/>
              </a:ext>
            </a:extLst>
          </p:cNvPr>
          <p:cNvSpPr>
            <a:spLocks noGrp="1"/>
          </p:cNvSpPr>
          <p:nvPr/>
        </p:nvSpPr>
        <p:spPr>
          <a:xfrm>
            <a:off x="14474283" y="201419"/>
            <a:ext cx="3813717" cy="311538"/>
          </a:xfrm>
          <a:prstGeom prst="rect">
            <a:avLst/>
          </a:prstGeom>
        </p:spPr>
        <p:txBody>
          <a:bodyPr anchor="ctr"/>
          <a:lstStyle/>
          <a:p>
            <a:pPr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1) </a:t>
            </a:r>
            <a:r>
              <a:rPr lang="EN-US" altLang="ko-KR" dirty="0"/>
              <a:t>Surface Epithelial Tumors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471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8053D-1102-1757-0285-2C6E40EE7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A7807A3D-0B4B-C282-8F7C-FBC6C786E853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83B5E3B8-49F9-C571-7F07-E8092C0EEC2E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F91A82EE-9DC9-EF8E-65A0-59C3753AC435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190547EB-7339-3533-4A33-E23442B3BEEB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48D8D8F3-4A0F-4B16-7503-81D87E996433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40981534-028D-123B-3E43-8AC2236F85E7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6057757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Pathogenesis  +  Related</a:t>
            </a:r>
            <a:r>
              <a:rPr lang="ko-KR" altLang="en-US" sz="5000" dirty="0"/>
              <a:t> </a:t>
            </a:r>
            <a:r>
              <a:rPr lang="en-US" altLang="ko-KR" sz="5000" dirty="0"/>
              <a:t>Clinical</a:t>
            </a:r>
            <a:r>
              <a:rPr lang="ko-KR" altLang="en-US" sz="5000" dirty="0"/>
              <a:t> </a:t>
            </a:r>
            <a:r>
              <a:rPr lang="en-US" altLang="ko-KR" sz="5000" dirty="0"/>
              <a:t>Signs</a:t>
            </a:r>
            <a:endParaRPr sz="5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530042A3-BC5C-2B7F-6ECD-9975FD04E8F7}"/>
              </a:ext>
            </a:extLst>
          </p:cNvPr>
          <p:cNvSpPr>
            <a:spLocks noGrp="1"/>
          </p:cNvSpPr>
          <p:nvPr/>
        </p:nvSpPr>
        <p:spPr>
          <a:xfrm>
            <a:off x="816429" y="3333750"/>
            <a:ext cx="16958615" cy="6953250"/>
          </a:xfrm>
          <a:prstGeom prst="rect">
            <a:avLst/>
          </a:prstGeom>
        </p:spPr>
        <p:txBody>
          <a:bodyPr anchor="t"/>
          <a:lstStyle/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복강 내</a:t>
            </a:r>
            <a:r>
              <a:rPr lang="en-US" altLang="ko-KR" sz="2200" dirty="0">
                <a:latin typeface="+mj-ea"/>
                <a:ea typeface="+mj-ea"/>
              </a:rPr>
              <a:t>) tumor implantation </a:t>
            </a:r>
            <a:r>
              <a:rPr lang="ko-KR" altLang="en-US" sz="2200" dirty="0">
                <a:latin typeface="+mj-ea"/>
                <a:ea typeface="+mj-ea"/>
              </a:rPr>
              <a:t>→ </a:t>
            </a:r>
            <a:r>
              <a:rPr lang="en-US" altLang="ko-KR" sz="2200" dirty="0">
                <a:latin typeface="+mj-ea"/>
                <a:ea typeface="+mj-ea"/>
              </a:rPr>
              <a:t>carcinomatosis </a:t>
            </a:r>
            <a:r>
              <a:rPr lang="ko-KR" altLang="en-US" sz="2200" dirty="0">
                <a:latin typeface="+mj-ea"/>
                <a:ea typeface="+mj-ea"/>
              </a:rPr>
              <a:t>→ </a:t>
            </a:r>
            <a:r>
              <a:rPr lang="en-US" altLang="ko-KR" sz="2200" dirty="0">
                <a:latin typeface="+mj-ea"/>
                <a:ea typeface="+mj-ea"/>
              </a:rPr>
              <a:t>ascites</a:t>
            </a: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solidFill>
                  <a:srgbClr val="FF0000"/>
                </a:solidFill>
                <a:latin typeface="+mj-ea"/>
                <a:ea typeface="+mj-ea"/>
              </a:rPr>
              <a:t>국소 증상</a:t>
            </a:r>
            <a:endParaRPr lang="en-US" altLang="ko-KR" sz="2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257300" lvl="2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 복부 팽만</a:t>
            </a:r>
            <a:r>
              <a:rPr lang="en-US" altLang="ko-KR" sz="2200" dirty="0">
                <a:latin typeface="+mj-ea"/>
                <a:ea typeface="+mj-ea"/>
              </a:rPr>
              <a:t>,</a:t>
            </a:r>
            <a:r>
              <a:rPr lang="ko-KR" altLang="en-US" sz="2200" dirty="0">
                <a:latin typeface="+mj-ea"/>
                <a:ea typeface="+mj-ea"/>
              </a:rPr>
              <a:t>  복수</a:t>
            </a:r>
            <a:r>
              <a:rPr lang="en-US" altLang="ko-KR" sz="2200" dirty="0">
                <a:latin typeface="+mj-ea"/>
                <a:ea typeface="+mj-ea"/>
              </a:rPr>
              <a:t>,</a:t>
            </a:r>
            <a:r>
              <a:rPr lang="ko-KR" altLang="en-US" sz="2200" dirty="0">
                <a:latin typeface="+mj-ea"/>
                <a:ea typeface="+mj-ea"/>
              </a:rPr>
              <a:t>  복통</a:t>
            </a:r>
            <a:r>
              <a:rPr lang="en-US" altLang="ko-KR" sz="2200" dirty="0">
                <a:latin typeface="+mj-ea"/>
                <a:ea typeface="+mj-ea"/>
              </a:rPr>
              <a:t>,</a:t>
            </a:r>
            <a:r>
              <a:rPr lang="ko-KR" altLang="en-US" sz="2200" dirty="0">
                <a:latin typeface="+mj-ea"/>
                <a:ea typeface="+mj-ea"/>
              </a:rPr>
              <a:t>  식욕부진             </a:t>
            </a:r>
            <a:endParaRPr lang="en-US" altLang="ko-KR" sz="2200" dirty="0">
              <a:latin typeface="+mj-ea"/>
              <a:ea typeface="+mj-ea"/>
            </a:endParaRP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solidFill>
                  <a:srgbClr val="FF0000"/>
                </a:solidFill>
                <a:latin typeface="+mj-ea"/>
                <a:ea typeface="+mj-ea"/>
              </a:rPr>
              <a:t>전신 증상</a:t>
            </a:r>
            <a:endParaRPr lang="en-US" altLang="ko-KR" sz="2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257300" lvl="2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  체중 감소</a:t>
            </a:r>
            <a:r>
              <a:rPr lang="en-US" altLang="ko-KR" sz="2200" dirty="0">
                <a:latin typeface="+mj-ea"/>
                <a:ea typeface="+mj-ea"/>
              </a:rPr>
              <a:t>,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cachexia,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lethargy</a:t>
            </a:r>
            <a:endParaRPr lang="ko-KR" altLang="en-US" sz="2200" dirty="0">
              <a:latin typeface="+mj-ea"/>
              <a:ea typeface="+mj-ea"/>
            </a:endParaRP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endParaRPr lang="en-US" altLang="ko-KR" sz="2200" dirty="0">
              <a:latin typeface="+mj-ea"/>
              <a:ea typeface="+mj-ea"/>
            </a:endParaRP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solidFill>
                  <a:srgbClr val="FF0000"/>
                </a:solidFill>
                <a:latin typeface="+mj-ea"/>
                <a:ea typeface="+mj-ea"/>
              </a:rPr>
              <a:t>전이 관련 임상증상</a:t>
            </a:r>
            <a:endParaRPr lang="en-US" altLang="ko-KR" sz="2200" dirty="0">
              <a:latin typeface="+mj-ea"/>
              <a:ea typeface="+mj-ea"/>
            </a:endParaRP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호흡곤란</a:t>
            </a:r>
            <a:r>
              <a:rPr lang="en-US" altLang="ko-KR" sz="2200" dirty="0">
                <a:latin typeface="+mj-ea"/>
                <a:ea typeface="+mj-ea"/>
              </a:rPr>
              <a:t>,</a:t>
            </a:r>
            <a:r>
              <a:rPr lang="ko-KR" altLang="en-US" sz="2200" dirty="0">
                <a:latin typeface="+mj-ea"/>
                <a:ea typeface="+mj-ea"/>
              </a:rPr>
              <a:t>  흉수</a:t>
            </a:r>
            <a:r>
              <a:rPr lang="en-US" altLang="ko-KR" sz="2200" dirty="0">
                <a:latin typeface="+mj-ea"/>
                <a:ea typeface="+mj-ea"/>
              </a:rPr>
              <a:t>,</a:t>
            </a:r>
            <a:r>
              <a:rPr lang="ko-KR" altLang="en-US" sz="2200" dirty="0">
                <a:latin typeface="+mj-ea"/>
                <a:ea typeface="+mj-ea"/>
              </a:rPr>
              <a:t>  </a:t>
            </a:r>
            <a:r>
              <a:rPr lang="en-US" altLang="ko-KR" sz="2200" dirty="0">
                <a:latin typeface="+mj-ea"/>
                <a:ea typeface="+mj-ea"/>
              </a:rPr>
              <a:t>ARDS-like inflammatory lung injury</a:t>
            </a: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endParaRPr lang="en-US" altLang="ko-KR" sz="2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solidFill>
                  <a:srgbClr val="FF0000"/>
                </a:solidFill>
                <a:latin typeface="+mj-ea"/>
                <a:ea typeface="+mj-ea"/>
              </a:rPr>
              <a:t>종양 관련 합병증</a:t>
            </a:r>
            <a:endParaRPr lang="en-US" altLang="ko-KR" sz="2200" dirty="0">
              <a:solidFill>
                <a:schemeClr val="dk1"/>
              </a:solidFill>
              <a:latin typeface="+mj-ea"/>
              <a:ea typeface="+mj-ea"/>
            </a:endParaRP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hypercoagulability,</a:t>
            </a:r>
            <a:r>
              <a:rPr lang="ko-KR" altLang="en-US" sz="2200" dirty="0">
                <a:latin typeface="+mj-ea"/>
                <a:ea typeface="+mj-ea"/>
              </a:rPr>
              <a:t>  </a:t>
            </a:r>
            <a:r>
              <a:rPr lang="en-US" altLang="ko-KR" sz="2200" dirty="0">
                <a:latin typeface="+mj-ea"/>
                <a:ea typeface="+mj-ea"/>
              </a:rPr>
              <a:t>DIC,</a:t>
            </a:r>
            <a:r>
              <a:rPr lang="ko-KR" altLang="en-US" sz="2200" dirty="0">
                <a:latin typeface="+mj-ea"/>
                <a:ea typeface="+mj-ea"/>
              </a:rPr>
              <a:t>  </a:t>
            </a:r>
            <a:r>
              <a:rPr lang="en-US" altLang="ko-KR" sz="2200" dirty="0">
                <a:latin typeface="+mj-ea"/>
                <a:ea typeface="+mj-ea"/>
              </a:rPr>
              <a:t>thromboembolism,</a:t>
            </a:r>
            <a:r>
              <a:rPr lang="ko-KR" altLang="en-US" sz="2200" dirty="0">
                <a:latin typeface="+mj-ea"/>
                <a:ea typeface="+mj-ea"/>
              </a:rPr>
              <a:t>  </a:t>
            </a:r>
            <a:r>
              <a:rPr lang="en-US" altLang="ko-KR" sz="2200" dirty="0">
                <a:latin typeface="+mj-ea"/>
                <a:ea typeface="+mj-ea"/>
              </a:rPr>
              <a:t>SIRS/sepsis-like inflammatory syndrome</a:t>
            </a:r>
            <a:r>
              <a:rPr lang="ko-KR" altLang="en-US" sz="2200" dirty="0">
                <a:latin typeface="+mj-ea"/>
                <a:ea typeface="+mj-ea"/>
              </a:rPr>
              <a:t>  등</a:t>
            </a:r>
          </a:p>
        </p:txBody>
      </p:sp>
      <p:sp>
        <p:nvSpPr>
          <p:cNvPr id="8" name="kicker-06">
            <a:extLst>
              <a:ext uri="{FF2B5EF4-FFF2-40B4-BE49-F238E27FC236}">
                <a16:creationId xmlns:a16="http://schemas.microsoft.com/office/drawing/2014/main" id="{0E455D16-88DA-C4C7-946B-4CBEB797E4AD}"/>
              </a:ext>
            </a:extLst>
          </p:cNvPr>
          <p:cNvSpPr>
            <a:spLocks noGrp="1"/>
          </p:cNvSpPr>
          <p:nvPr/>
        </p:nvSpPr>
        <p:spPr>
          <a:xfrm>
            <a:off x="14474283" y="201419"/>
            <a:ext cx="3813717" cy="311538"/>
          </a:xfrm>
          <a:prstGeom prst="rect">
            <a:avLst/>
          </a:prstGeom>
        </p:spPr>
        <p:txBody>
          <a:bodyPr anchor="ctr"/>
          <a:lstStyle/>
          <a:p>
            <a:pPr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1) </a:t>
            </a:r>
            <a:r>
              <a:rPr lang="EN-US" altLang="ko-KR" dirty="0"/>
              <a:t>Surface Epithelial Tumors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904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CB6F-8733-3B8E-6F69-97C48013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-note-bg">
            <a:extLst>
              <a:ext uri="{FF2B5EF4-FFF2-40B4-BE49-F238E27FC236}">
                <a16:creationId xmlns:a16="http://schemas.microsoft.com/office/drawing/2014/main" id="{2C6D17A2-18D2-7DF2-44F1-B9D5B19CEEE5}"/>
              </a:ext>
            </a:extLst>
          </p:cNvPr>
          <p:cNvSpPr>
            <a:spLocks noGrp="1"/>
          </p:cNvSpPr>
          <p:nvPr/>
        </p:nvSpPr>
        <p:spPr>
          <a:xfrm>
            <a:off x="624700" y="7086601"/>
            <a:ext cx="13602862" cy="2476499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bottom-note-accent">
            <a:extLst>
              <a:ext uri="{FF2B5EF4-FFF2-40B4-BE49-F238E27FC236}">
                <a16:creationId xmlns:a16="http://schemas.microsoft.com/office/drawing/2014/main" id="{86C80E65-436A-6E0C-9116-FDFF73F80165}"/>
              </a:ext>
            </a:extLst>
          </p:cNvPr>
          <p:cNvSpPr>
            <a:spLocks noGrp="1"/>
          </p:cNvSpPr>
          <p:nvPr/>
        </p:nvSpPr>
        <p:spPr>
          <a:xfrm>
            <a:off x="624700" y="7086601"/>
            <a:ext cx="96304" cy="2476499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wash-a">
            <a:extLst>
              <a:ext uri="{FF2B5EF4-FFF2-40B4-BE49-F238E27FC236}">
                <a16:creationId xmlns:a16="http://schemas.microsoft.com/office/drawing/2014/main" id="{CB09C65C-C071-BE08-BE1B-74594A325CC4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BDE71A29-4448-6B34-C37B-E45BEEC16E9D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038466FC-8A3E-A936-2AF8-F58F8C9C4326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11">
            <a:extLst>
              <a:ext uri="{FF2B5EF4-FFF2-40B4-BE49-F238E27FC236}">
                <a16:creationId xmlns:a16="http://schemas.microsoft.com/office/drawing/2014/main" id="{D4C2C08E-5298-0F7E-170E-FB57935D0F46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11">
            <a:extLst>
              <a:ext uri="{FF2B5EF4-FFF2-40B4-BE49-F238E27FC236}">
                <a16:creationId xmlns:a16="http://schemas.microsoft.com/office/drawing/2014/main" id="{92DD33CB-D936-B235-04CF-3D014494EC1B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01  Introduction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EE52CB1A-67E9-D2C7-BB74-165EA1D6BE82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12573000" cy="13335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360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sz="5000" dirty="0"/>
              <a:t>4 types of Ovarian Tumor</a:t>
            </a:r>
            <a:endParaRPr sz="5000" dirty="0"/>
          </a:p>
        </p:txBody>
      </p:sp>
      <p:sp>
        <p:nvSpPr>
          <p:cNvPr id="13" name="mod-icon-1">
            <a:extLst>
              <a:ext uri="{FF2B5EF4-FFF2-40B4-BE49-F238E27FC236}">
                <a16:creationId xmlns:a16="http://schemas.microsoft.com/office/drawing/2014/main" id="{4673A33C-C4CF-BC37-903A-3AEDFA92CEE3}"/>
              </a:ext>
            </a:extLst>
          </p:cNvPr>
          <p:cNvSpPr>
            <a:spLocks noGrp="1"/>
          </p:cNvSpPr>
          <p:nvPr/>
        </p:nvSpPr>
        <p:spPr>
          <a:xfrm>
            <a:off x="1197362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mod-icon-text-1">
            <a:extLst>
              <a:ext uri="{FF2B5EF4-FFF2-40B4-BE49-F238E27FC236}">
                <a16:creationId xmlns:a16="http://schemas.microsoft.com/office/drawing/2014/main" id="{619FAB29-5369-2DCD-3386-7A74A63B003D}"/>
              </a:ext>
            </a:extLst>
          </p:cNvPr>
          <p:cNvSpPr>
            <a:spLocks noGrp="1"/>
          </p:cNvSpPr>
          <p:nvPr/>
        </p:nvSpPr>
        <p:spPr>
          <a:xfrm>
            <a:off x="1197362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1</a:t>
            </a:r>
            <a:endParaRPr dirty="0"/>
          </a:p>
        </p:txBody>
      </p:sp>
      <p:sp>
        <p:nvSpPr>
          <p:cNvPr id="15" name="mod-title-1">
            <a:extLst>
              <a:ext uri="{FF2B5EF4-FFF2-40B4-BE49-F238E27FC236}">
                <a16:creationId xmlns:a16="http://schemas.microsoft.com/office/drawing/2014/main" id="{F3EF5D74-AA92-3BDB-41A5-D653CC3D40BB}"/>
              </a:ext>
            </a:extLst>
          </p:cNvPr>
          <p:cNvSpPr>
            <a:spLocks noGrp="1"/>
          </p:cNvSpPr>
          <p:nvPr/>
        </p:nvSpPr>
        <p:spPr>
          <a:xfrm>
            <a:off x="1083062" y="4805361"/>
            <a:ext cx="4000500" cy="1152525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Surface epithelial tumors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mod-icon-2">
            <a:extLst>
              <a:ext uri="{FF2B5EF4-FFF2-40B4-BE49-F238E27FC236}">
                <a16:creationId xmlns:a16="http://schemas.microsoft.com/office/drawing/2014/main" id="{A6590F8D-FF11-ECA1-983B-695D3136CB4A}"/>
              </a:ext>
            </a:extLst>
          </p:cNvPr>
          <p:cNvSpPr>
            <a:spLocks noGrp="1"/>
          </p:cNvSpPr>
          <p:nvPr/>
        </p:nvSpPr>
        <p:spPr>
          <a:xfrm>
            <a:off x="5359787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mod-icon-text-2">
            <a:extLst>
              <a:ext uri="{FF2B5EF4-FFF2-40B4-BE49-F238E27FC236}">
                <a16:creationId xmlns:a16="http://schemas.microsoft.com/office/drawing/2014/main" id="{1AB5B9F2-864A-1456-EACD-B848468AF736}"/>
              </a:ext>
            </a:extLst>
          </p:cNvPr>
          <p:cNvSpPr>
            <a:spLocks noGrp="1"/>
          </p:cNvSpPr>
          <p:nvPr/>
        </p:nvSpPr>
        <p:spPr>
          <a:xfrm>
            <a:off x="5359787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2</a:t>
            </a:r>
            <a:endParaRPr dirty="0"/>
          </a:p>
        </p:txBody>
      </p:sp>
      <p:sp>
        <p:nvSpPr>
          <p:cNvPr id="20" name="mod-title-2">
            <a:extLst>
              <a:ext uri="{FF2B5EF4-FFF2-40B4-BE49-F238E27FC236}">
                <a16:creationId xmlns:a16="http://schemas.microsoft.com/office/drawing/2014/main" id="{86EA4696-FBB2-F266-74BB-B06D262C6C20}"/>
              </a:ext>
            </a:extLst>
          </p:cNvPr>
          <p:cNvSpPr>
            <a:spLocks noGrp="1"/>
          </p:cNvSpPr>
          <p:nvPr/>
        </p:nvSpPr>
        <p:spPr>
          <a:xfrm>
            <a:off x="5245487" y="4805361"/>
            <a:ext cx="4000500" cy="1152523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latin typeface="+mj-ea"/>
                <a:ea typeface="+mj-ea"/>
              </a:rPr>
              <a:t>Germ cell tumors</a:t>
            </a:r>
          </a:p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23" name="mod-bottom">
            <a:extLst>
              <a:ext uri="{FF2B5EF4-FFF2-40B4-BE49-F238E27FC236}">
                <a16:creationId xmlns:a16="http://schemas.microsoft.com/office/drawing/2014/main" id="{8D8B43AB-AA0A-B86C-63F1-05F5ECF3A8D0}"/>
              </a:ext>
            </a:extLst>
          </p:cNvPr>
          <p:cNvSpPr>
            <a:spLocks noGrp="1"/>
          </p:cNvSpPr>
          <p:nvPr/>
        </p:nvSpPr>
        <p:spPr>
          <a:xfrm>
            <a:off x="7179062" y="2309812"/>
            <a:ext cx="100965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2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dirty="0"/>
              <a:t>Based on Histogenesis</a:t>
            </a:r>
            <a:endParaRPr dirty="0"/>
          </a:p>
        </p:txBody>
      </p:sp>
      <p:sp>
        <p:nvSpPr>
          <p:cNvPr id="30" name="mod-icon-1">
            <a:extLst>
              <a:ext uri="{FF2B5EF4-FFF2-40B4-BE49-F238E27FC236}">
                <a16:creationId xmlns:a16="http://schemas.microsoft.com/office/drawing/2014/main" id="{58C9E937-5993-A8F3-582C-7512A836199B}"/>
              </a:ext>
            </a:extLst>
          </p:cNvPr>
          <p:cNvSpPr>
            <a:spLocks noGrp="1"/>
          </p:cNvSpPr>
          <p:nvPr/>
        </p:nvSpPr>
        <p:spPr>
          <a:xfrm>
            <a:off x="9360287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mod-icon-text-1">
            <a:extLst>
              <a:ext uri="{FF2B5EF4-FFF2-40B4-BE49-F238E27FC236}">
                <a16:creationId xmlns:a16="http://schemas.microsoft.com/office/drawing/2014/main" id="{0E6F9BFB-FA97-07DD-3BD0-AB0AFC9418A0}"/>
              </a:ext>
            </a:extLst>
          </p:cNvPr>
          <p:cNvSpPr>
            <a:spLocks noGrp="1"/>
          </p:cNvSpPr>
          <p:nvPr/>
        </p:nvSpPr>
        <p:spPr>
          <a:xfrm>
            <a:off x="9360287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3</a:t>
            </a:r>
            <a:endParaRPr dirty="0"/>
          </a:p>
        </p:txBody>
      </p:sp>
      <p:sp>
        <p:nvSpPr>
          <p:cNvPr id="32" name="mod-title-1">
            <a:extLst>
              <a:ext uri="{FF2B5EF4-FFF2-40B4-BE49-F238E27FC236}">
                <a16:creationId xmlns:a16="http://schemas.microsoft.com/office/drawing/2014/main" id="{06B0FE4A-0729-C64A-27B5-807A74F2FB57}"/>
              </a:ext>
            </a:extLst>
          </p:cNvPr>
          <p:cNvSpPr>
            <a:spLocks noGrp="1"/>
          </p:cNvSpPr>
          <p:nvPr/>
        </p:nvSpPr>
        <p:spPr>
          <a:xfrm>
            <a:off x="9245987" y="4805362"/>
            <a:ext cx="4000500" cy="1152524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Sex cord-stromal tumors</a:t>
            </a:r>
          </a:p>
        </p:txBody>
      </p:sp>
      <p:sp>
        <p:nvSpPr>
          <p:cNvPr id="33" name="mod-icon-2">
            <a:extLst>
              <a:ext uri="{FF2B5EF4-FFF2-40B4-BE49-F238E27FC236}">
                <a16:creationId xmlns:a16="http://schemas.microsoft.com/office/drawing/2014/main" id="{B3E6AFA8-A86B-2252-B4AD-316B5B4B34AE}"/>
              </a:ext>
            </a:extLst>
          </p:cNvPr>
          <p:cNvSpPr>
            <a:spLocks noGrp="1"/>
          </p:cNvSpPr>
          <p:nvPr/>
        </p:nvSpPr>
        <p:spPr>
          <a:xfrm>
            <a:off x="13389362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mod-icon-text-2">
            <a:extLst>
              <a:ext uri="{FF2B5EF4-FFF2-40B4-BE49-F238E27FC236}">
                <a16:creationId xmlns:a16="http://schemas.microsoft.com/office/drawing/2014/main" id="{647A5103-DD35-D002-279B-4837D2E3EDA6}"/>
              </a:ext>
            </a:extLst>
          </p:cNvPr>
          <p:cNvSpPr>
            <a:spLocks noGrp="1"/>
          </p:cNvSpPr>
          <p:nvPr/>
        </p:nvSpPr>
        <p:spPr>
          <a:xfrm>
            <a:off x="13389362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4</a:t>
            </a:r>
            <a:endParaRPr dirty="0"/>
          </a:p>
        </p:txBody>
      </p:sp>
      <p:sp>
        <p:nvSpPr>
          <p:cNvPr id="35" name="mod-title-2">
            <a:extLst>
              <a:ext uri="{FF2B5EF4-FFF2-40B4-BE49-F238E27FC236}">
                <a16:creationId xmlns:a16="http://schemas.microsoft.com/office/drawing/2014/main" id="{DCF72C94-6E95-F7BA-D931-16849589B928}"/>
              </a:ext>
            </a:extLst>
          </p:cNvPr>
          <p:cNvSpPr>
            <a:spLocks noGrp="1"/>
          </p:cNvSpPr>
          <p:nvPr/>
        </p:nvSpPr>
        <p:spPr>
          <a:xfrm>
            <a:off x="13275062" y="4805361"/>
            <a:ext cx="4000500" cy="1152525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Metastatic ovarian tumors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5C033D-2A68-186C-F7CB-FD0AA71E9928}"/>
              </a:ext>
            </a:extLst>
          </p:cNvPr>
          <p:cNvSpPr txBox="1"/>
          <p:nvPr/>
        </p:nvSpPr>
        <p:spPr>
          <a:xfrm>
            <a:off x="914400" y="7326709"/>
            <a:ext cx="13216286" cy="1995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000" b="0" i="0" u="none" strike="noStrike" dirty="0">
                <a:latin typeface="+mj-ea"/>
                <a:ea typeface="+mj-ea"/>
              </a:rPr>
              <a:t>Primordial germ cell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에서 유래하는 종양</a:t>
            </a:r>
            <a:endParaRPr lang="en-US" altLang="ko-KR" sz="2000" dirty="0">
              <a:latin typeface="+mj-ea"/>
              <a:ea typeface="+mj-ea"/>
            </a:endParaRPr>
          </a:p>
          <a:p>
            <a:pPr marL="34290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0" i="0" u="none" strike="noStrike" dirty="0">
                <a:latin typeface="+mj-ea"/>
                <a:ea typeface="+mj-ea"/>
              </a:rPr>
              <a:t>종류</a:t>
            </a:r>
            <a:r>
              <a:rPr lang="en-US" altLang="ko-KR" sz="2000" b="0" i="0" u="none" strike="noStrike" dirty="0">
                <a:latin typeface="+mj-ea"/>
                <a:ea typeface="+mj-ea"/>
              </a:rPr>
              <a:t>: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 </a:t>
            </a:r>
            <a:r>
              <a:rPr lang="en-US" altLang="ko-KR" sz="2000" b="0" i="0" u="none" strike="noStrike" dirty="0">
                <a:latin typeface="+mj-ea"/>
                <a:ea typeface="+mj-ea"/>
              </a:rPr>
              <a:t>Teratoma, Dysgerminoma, Embryonal carcinoma, Yolk sac tumor</a:t>
            </a:r>
          </a:p>
          <a:p>
            <a:pPr marL="34290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000" b="0" i="0" u="none" strike="noStrike" dirty="0">
                <a:latin typeface="+mj-ea"/>
                <a:ea typeface="+mj-ea"/>
              </a:rPr>
              <a:t>etiology: 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배아 발생 과정 중 </a:t>
            </a:r>
            <a:r>
              <a:rPr lang="en-US" altLang="ko-KR" sz="2000" b="0" i="0" u="none" strike="noStrike" dirty="0">
                <a:latin typeface="+mj-ea"/>
                <a:ea typeface="+mj-ea"/>
              </a:rPr>
              <a:t>primordial germ cell migration abnormality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와 연관</a:t>
            </a:r>
          </a:p>
          <a:p>
            <a:pPr marL="34290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000" b="0" i="0" u="none" strike="noStrike" dirty="0">
                <a:latin typeface="+mj-ea"/>
                <a:ea typeface="+mj-ea"/>
              </a:rPr>
              <a:t>Clinical signs: 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복부 </a:t>
            </a:r>
            <a:r>
              <a:rPr lang="ko-KR" altLang="en-US" sz="2000" b="0" i="0" u="none" strike="noStrike" dirty="0" err="1">
                <a:latin typeface="+mj-ea"/>
                <a:ea typeface="+mj-ea"/>
              </a:rPr>
              <a:t>종괴</a:t>
            </a:r>
            <a:r>
              <a:rPr lang="en-US" altLang="ko-KR" sz="2000" b="0" i="0" u="none" strike="noStrike" dirty="0">
                <a:latin typeface="+mj-ea"/>
                <a:ea typeface="+mj-ea"/>
              </a:rPr>
              <a:t>, 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 무증상 </a:t>
            </a:r>
            <a:r>
              <a:rPr lang="en-US" altLang="ko-KR" sz="2000" b="0" i="0" u="none" strike="noStrike" dirty="0">
                <a:latin typeface="+mj-ea"/>
                <a:ea typeface="+mj-ea"/>
              </a:rPr>
              <a:t>incidental finding, torsion 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시 급성 복통</a:t>
            </a:r>
            <a:r>
              <a:rPr lang="en-US" altLang="ko-KR" sz="2000" b="0" i="0" u="none" strike="noStrike" dirty="0">
                <a:latin typeface="+mj-ea"/>
                <a:ea typeface="+mj-ea"/>
              </a:rPr>
              <a:t>, 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악성일 경우</a:t>
            </a:r>
            <a:r>
              <a:rPr lang="en-US" altLang="ko-KR" sz="2000" b="0" i="0" u="none" strike="noStrike" dirty="0">
                <a:latin typeface="+mj-ea"/>
                <a:ea typeface="+mj-ea"/>
              </a:rPr>
              <a:t>: 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복수</a:t>
            </a:r>
            <a:r>
              <a:rPr lang="en-US" altLang="ko-KR" sz="2000" b="0" i="0" u="none" strike="noStrike" dirty="0">
                <a:latin typeface="+mj-ea"/>
                <a:ea typeface="+mj-ea"/>
              </a:rPr>
              <a:t>,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 체중 감소</a:t>
            </a:r>
            <a:r>
              <a:rPr lang="en-US" altLang="ko-KR" sz="2000" b="0" i="0" u="none" strike="noStrike" dirty="0">
                <a:latin typeface="+mj-ea"/>
                <a:ea typeface="+mj-ea"/>
              </a:rPr>
              <a:t>,</a:t>
            </a:r>
            <a:r>
              <a:rPr lang="ko-KR" altLang="en-US" sz="2000" b="0" i="0" u="none" strike="noStrike" dirty="0">
                <a:latin typeface="+mj-ea"/>
                <a:ea typeface="+mj-ea"/>
              </a:rPr>
              <a:t> 폐 전이</a:t>
            </a:r>
          </a:p>
        </p:txBody>
      </p:sp>
      <p:pic>
        <p:nvPicPr>
          <p:cNvPr id="10" name="그림 5">
            <a:extLst>
              <a:ext uri="{FF2B5EF4-FFF2-40B4-BE49-F238E27FC236}">
                <a16:creationId xmlns:a16="http://schemas.microsoft.com/office/drawing/2014/main" id="{A62E0FB8-0DE9-1AAC-59F2-E8039D88E6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420957" y="7086601"/>
            <a:ext cx="3353203" cy="2476499"/>
          </a:xfrm>
          <a:prstGeom prst="rect">
            <a:avLst/>
          </a:prstGeom>
        </p:spPr>
      </p:pic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401DCD1D-E798-DCEE-92DA-F2496133C107}"/>
              </a:ext>
            </a:extLst>
          </p:cNvPr>
          <p:cNvSpPr/>
          <p:nvPr/>
        </p:nvSpPr>
        <p:spPr>
          <a:xfrm>
            <a:off x="6400800" y="5935062"/>
            <a:ext cx="838200" cy="847729"/>
          </a:xfrm>
          <a:prstGeom prst="downArrow">
            <a:avLst/>
          </a:prstGeom>
          <a:solidFill>
            <a:srgbClr val="66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37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8CF9-2E7A-083A-FA8F-E534D1BE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-note-bg">
            <a:extLst>
              <a:ext uri="{FF2B5EF4-FFF2-40B4-BE49-F238E27FC236}">
                <a16:creationId xmlns:a16="http://schemas.microsoft.com/office/drawing/2014/main" id="{48D7D076-4CE2-7A33-BA93-128986DAA9FE}"/>
              </a:ext>
            </a:extLst>
          </p:cNvPr>
          <p:cNvSpPr>
            <a:spLocks noGrp="1"/>
          </p:cNvSpPr>
          <p:nvPr/>
        </p:nvSpPr>
        <p:spPr>
          <a:xfrm>
            <a:off x="624700" y="7086601"/>
            <a:ext cx="13602862" cy="2476499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bottom-note-accent">
            <a:extLst>
              <a:ext uri="{FF2B5EF4-FFF2-40B4-BE49-F238E27FC236}">
                <a16:creationId xmlns:a16="http://schemas.microsoft.com/office/drawing/2014/main" id="{C3B5A36D-6DE2-5515-0990-0E55DE3B3413}"/>
              </a:ext>
            </a:extLst>
          </p:cNvPr>
          <p:cNvSpPr>
            <a:spLocks noGrp="1"/>
          </p:cNvSpPr>
          <p:nvPr/>
        </p:nvSpPr>
        <p:spPr>
          <a:xfrm>
            <a:off x="624700" y="7086601"/>
            <a:ext cx="96304" cy="2476499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wash-a">
            <a:extLst>
              <a:ext uri="{FF2B5EF4-FFF2-40B4-BE49-F238E27FC236}">
                <a16:creationId xmlns:a16="http://schemas.microsoft.com/office/drawing/2014/main" id="{BBC46FBC-F52A-C8DA-351B-D442D42297F0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09813F8A-ED97-684C-14D9-C6CE63F51FE1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C7CF834D-13A4-88DE-93E8-43604D47F832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11">
            <a:extLst>
              <a:ext uri="{FF2B5EF4-FFF2-40B4-BE49-F238E27FC236}">
                <a16:creationId xmlns:a16="http://schemas.microsoft.com/office/drawing/2014/main" id="{E328B59D-2C58-4C67-067E-CB3FAE71DB06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11">
            <a:extLst>
              <a:ext uri="{FF2B5EF4-FFF2-40B4-BE49-F238E27FC236}">
                <a16:creationId xmlns:a16="http://schemas.microsoft.com/office/drawing/2014/main" id="{FAF1793D-8759-BD8A-BC78-BF75B7193950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01  Introduction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399CDE1A-522B-1CF6-0F90-7B9C0EE6CED4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12573000" cy="13335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360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sz="5000" dirty="0"/>
              <a:t>4 types of Ovarian Tumor</a:t>
            </a:r>
            <a:endParaRPr sz="5000" dirty="0"/>
          </a:p>
        </p:txBody>
      </p:sp>
      <p:sp>
        <p:nvSpPr>
          <p:cNvPr id="13" name="mod-icon-1">
            <a:extLst>
              <a:ext uri="{FF2B5EF4-FFF2-40B4-BE49-F238E27FC236}">
                <a16:creationId xmlns:a16="http://schemas.microsoft.com/office/drawing/2014/main" id="{FD8A7749-F4A1-6060-A555-A27DCED96107}"/>
              </a:ext>
            </a:extLst>
          </p:cNvPr>
          <p:cNvSpPr>
            <a:spLocks noGrp="1"/>
          </p:cNvSpPr>
          <p:nvPr/>
        </p:nvSpPr>
        <p:spPr>
          <a:xfrm>
            <a:off x="1197362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mod-icon-text-1">
            <a:extLst>
              <a:ext uri="{FF2B5EF4-FFF2-40B4-BE49-F238E27FC236}">
                <a16:creationId xmlns:a16="http://schemas.microsoft.com/office/drawing/2014/main" id="{09E961AC-8407-13C4-52E2-23074EE712BF}"/>
              </a:ext>
            </a:extLst>
          </p:cNvPr>
          <p:cNvSpPr>
            <a:spLocks noGrp="1"/>
          </p:cNvSpPr>
          <p:nvPr/>
        </p:nvSpPr>
        <p:spPr>
          <a:xfrm>
            <a:off x="1197362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1</a:t>
            </a:r>
            <a:endParaRPr dirty="0"/>
          </a:p>
        </p:txBody>
      </p:sp>
      <p:sp>
        <p:nvSpPr>
          <p:cNvPr id="15" name="mod-title-1">
            <a:extLst>
              <a:ext uri="{FF2B5EF4-FFF2-40B4-BE49-F238E27FC236}">
                <a16:creationId xmlns:a16="http://schemas.microsoft.com/office/drawing/2014/main" id="{7B640D75-F857-FD16-29EE-ECAADC1D593F}"/>
              </a:ext>
            </a:extLst>
          </p:cNvPr>
          <p:cNvSpPr>
            <a:spLocks noGrp="1"/>
          </p:cNvSpPr>
          <p:nvPr/>
        </p:nvSpPr>
        <p:spPr>
          <a:xfrm>
            <a:off x="1083062" y="4805361"/>
            <a:ext cx="4000500" cy="1152525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Surface epithelial tumors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mod-icon-2">
            <a:extLst>
              <a:ext uri="{FF2B5EF4-FFF2-40B4-BE49-F238E27FC236}">
                <a16:creationId xmlns:a16="http://schemas.microsoft.com/office/drawing/2014/main" id="{6C375E5B-B2AA-14A1-12C6-13805D4DAD06}"/>
              </a:ext>
            </a:extLst>
          </p:cNvPr>
          <p:cNvSpPr>
            <a:spLocks noGrp="1"/>
          </p:cNvSpPr>
          <p:nvPr/>
        </p:nvSpPr>
        <p:spPr>
          <a:xfrm>
            <a:off x="5359787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mod-icon-text-2">
            <a:extLst>
              <a:ext uri="{FF2B5EF4-FFF2-40B4-BE49-F238E27FC236}">
                <a16:creationId xmlns:a16="http://schemas.microsoft.com/office/drawing/2014/main" id="{B2A5E16F-BBB1-30FC-073F-BAE114BAA8C9}"/>
              </a:ext>
            </a:extLst>
          </p:cNvPr>
          <p:cNvSpPr>
            <a:spLocks noGrp="1"/>
          </p:cNvSpPr>
          <p:nvPr/>
        </p:nvSpPr>
        <p:spPr>
          <a:xfrm>
            <a:off x="5359787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2</a:t>
            </a:r>
            <a:endParaRPr dirty="0"/>
          </a:p>
        </p:txBody>
      </p:sp>
      <p:sp>
        <p:nvSpPr>
          <p:cNvPr id="20" name="mod-title-2">
            <a:extLst>
              <a:ext uri="{FF2B5EF4-FFF2-40B4-BE49-F238E27FC236}">
                <a16:creationId xmlns:a16="http://schemas.microsoft.com/office/drawing/2014/main" id="{759E45DC-AAED-4BFB-DDEA-E5D640F5F6DA}"/>
              </a:ext>
            </a:extLst>
          </p:cNvPr>
          <p:cNvSpPr>
            <a:spLocks noGrp="1"/>
          </p:cNvSpPr>
          <p:nvPr/>
        </p:nvSpPr>
        <p:spPr>
          <a:xfrm>
            <a:off x="5245487" y="4805361"/>
            <a:ext cx="4000500" cy="1152523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Germ cell tumors</a:t>
            </a:r>
          </a:p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mod-bottom">
            <a:extLst>
              <a:ext uri="{FF2B5EF4-FFF2-40B4-BE49-F238E27FC236}">
                <a16:creationId xmlns:a16="http://schemas.microsoft.com/office/drawing/2014/main" id="{02BEE36F-2B60-02BA-8FFD-97820360355D}"/>
              </a:ext>
            </a:extLst>
          </p:cNvPr>
          <p:cNvSpPr>
            <a:spLocks noGrp="1"/>
          </p:cNvSpPr>
          <p:nvPr/>
        </p:nvSpPr>
        <p:spPr>
          <a:xfrm>
            <a:off x="7179062" y="2309812"/>
            <a:ext cx="100965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2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dirty="0"/>
              <a:t>Based on Histogenesis</a:t>
            </a:r>
            <a:endParaRPr dirty="0"/>
          </a:p>
        </p:txBody>
      </p:sp>
      <p:sp>
        <p:nvSpPr>
          <p:cNvPr id="30" name="mod-icon-1">
            <a:extLst>
              <a:ext uri="{FF2B5EF4-FFF2-40B4-BE49-F238E27FC236}">
                <a16:creationId xmlns:a16="http://schemas.microsoft.com/office/drawing/2014/main" id="{EDF28AF7-7E3C-CCC9-022C-BBB9DB704C13}"/>
              </a:ext>
            </a:extLst>
          </p:cNvPr>
          <p:cNvSpPr>
            <a:spLocks noGrp="1"/>
          </p:cNvSpPr>
          <p:nvPr/>
        </p:nvSpPr>
        <p:spPr>
          <a:xfrm>
            <a:off x="9360287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mod-icon-text-1">
            <a:extLst>
              <a:ext uri="{FF2B5EF4-FFF2-40B4-BE49-F238E27FC236}">
                <a16:creationId xmlns:a16="http://schemas.microsoft.com/office/drawing/2014/main" id="{7629FECB-5C88-7FA8-86C5-F20ECC0150DF}"/>
              </a:ext>
            </a:extLst>
          </p:cNvPr>
          <p:cNvSpPr>
            <a:spLocks noGrp="1"/>
          </p:cNvSpPr>
          <p:nvPr/>
        </p:nvSpPr>
        <p:spPr>
          <a:xfrm>
            <a:off x="9360287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3</a:t>
            </a:r>
            <a:endParaRPr dirty="0"/>
          </a:p>
        </p:txBody>
      </p:sp>
      <p:sp>
        <p:nvSpPr>
          <p:cNvPr id="32" name="mod-title-1">
            <a:extLst>
              <a:ext uri="{FF2B5EF4-FFF2-40B4-BE49-F238E27FC236}">
                <a16:creationId xmlns:a16="http://schemas.microsoft.com/office/drawing/2014/main" id="{6ACA92E5-3979-5242-2ACD-1FDE72E9DA4B}"/>
              </a:ext>
            </a:extLst>
          </p:cNvPr>
          <p:cNvSpPr>
            <a:spLocks noGrp="1"/>
          </p:cNvSpPr>
          <p:nvPr/>
        </p:nvSpPr>
        <p:spPr>
          <a:xfrm>
            <a:off x="9245987" y="4805362"/>
            <a:ext cx="4000500" cy="1152524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rgbClr val="3333CC"/>
                </a:solidFill>
                <a:latin typeface="+mj-ea"/>
                <a:ea typeface="+mj-ea"/>
              </a:rPr>
              <a:t>Sex cord-stromal tumors</a:t>
            </a:r>
          </a:p>
        </p:txBody>
      </p:sp>
      <p:sp>
        <p:nvSpPr>
          <p:cNvPr id="33" name="mod-icon-2">
            <a:extLst>
              <a:ext uri="{FF2B5EF4-FFF2-40B4-BE49-F238E27FC236}">
                <a16:creationId xmlns:a16="http://schemas.microsoft.com/office/drawing/2014/main" id="{1164BAB9-904C-FCAD-89F3-A54EF4BDEA1E}"/>
              </a:ext>
            </a:extLst>
          </p:cNvPr>
          <p:cNvSpPr>
            <a:spLocks noGrp="1"/>
          </p:cNvSpPr>
          <p:nvPr/>
        </p:nvSpPr>
        <p:spPr>
          <a:xfrm>
            <a:off x="13389362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mod-icon-text-2">
            <a:extLst>
              <a:ext uri="{FF2B5EF4-FFF2-40B4-BE49-F238E27FC236}">
                <a16:creationId xmlns:a16="http://schemas.microsoft.com/office/drawing/2014/main" id="{1EA5F1A8-F715-CBA3-CD76-6C13747671A3}"/>
              </a:ext>
            </a:extLst>
          </p:cNvPr>
          <p:cNvSpPr>
            <a:spLocks noGrp="1"/>
          </p:cNvSpPr>
          <p:nvPr/>
        </p:nvSpPr>
        <p:spPr>
          <a:xfrm>
            <a:off x="13389362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4</a:t>
            </a:r>
            <a:endParaRPr dirty="0"/>
          </a:p>
        </p:txBody>
      </p:sp>
      <p:sp>
        <p:nvSpPr>
          <p:cNvPr id="35" name="mod-title-2">
            <a:extLst>
              <a:ext uri="{FF2B5EF4-FFF2-40B4-BE49-F238E27FC236}">
                <a16:creationId xmlns:a16="http://schemas.microsoft.com/office/drawing/2014/main" id="{92A1D3E1-C6B6-ECBA-C43A-5ECEE75440DB}"/>
              </a:ext>
            </a:extLst>
          </p:cNvPr>
          <p:cNvSpPr>
            <a:spLocks noGrp="1"/>
          </p:cNvSpPr>
          <p:nvPr/>
        </p:nvSpPr>
        <p:spPr>
          <a:xfrm>
            <a:off x="13275062" y="4805361"/>
            <a:ext cx="4000500" cy="1152525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Metastatic ovarian tumors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E0799-A07F-5D84-94EC-23FEF4E15AC9}"/>
              </a:ext>
            </a:extLst>
          </p:cNvPr>
          <p:cNvSpPr txBox="1"/>
          <p:nvPr/>
        </p:nvSpPr>
        <p:spPr>
          <a:xfrm>
            <a:off x="914400" y="7326709"/>
            <a:ext cx="13216286" cy="201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dirty="0">
                <a:latin typeface="+mj-ea"/>
                <a:ea typeface="+mj-ea"/>
              </a:rPr>
              <a:t>난소의 </a:t>
            </a:r>
            <a:r>
              <a:rPr lang="en-US" altLang="ko-KR" sz="2000" dirty="0">
                <a:latin typeface="+mj-ea"/>
                <a:ea typeface="+mj-ea"/>
              </a:rPr>
              <a:t>granulosa cell, theca cell, stromal fibroblast, Sertoli-Leydig cell</a:t>
            </a:r>
            <a:r>
              <a:rPr lang="ko-KR" altLang="en-US" sz="2000" dirty="0">
                <a:latin typeface="+mj-ea"/>
                <a:ea typeface="+mj-ea"/>
              </a:rPr>
              <a:t>에서 유래</a:t>
            </a: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dirty="0">
                <a:latin typeface="+mj-ea"/>
                <a:ea typeface="+mj-ea"/>
              </a:rPr>
              <a:t>핵심 특징은 </a:t>
            </a:r>
            <a:r>
              <a:rPr lang="en-US" altLang="ko-KR" sz="2000" dirty="0">
                <a:latin typeface="+mj-ea"/>
                <a:ea typeface="+mj-ea"/>
              </a:rPr>
              <a:t>: hormone-producing neoplasm</a:t>
            </a: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000" dirty="0">
                <a:latin typeface="+mj-ea"/>
                <a:ea typeface="+mj-ea"/>
              </a:rPr>
              <a:t>etiology: </a:t>
            </a:r>
            <a:r>
              <a:rPr lang="ko-KR" altLang="en-US" sz="2000" dirty="0">
                <a:latin typeface="+mj-ea"/>
                <a:ea typeface="+mj-ea"/>
              </a:rPr>
              <a:t>호르몬 조절 이상 및 </a:t>
            </a:r>
            <a:r>
              <a:rPr lang="en-US" altLang="ko-KR" sz="2000" dirty="0">
                <a:latin typeface="+mj-ea"/>
                <a:ea typeface="+mj-ea"/>
              </a:rPr>
              <a:t>stromal proliferation abnormality</a:t>
            </a:r>
            <a:r>
              <a:rPr lang="ko-KR" altLang="en-US" sz="2000" dirty="0">
                <a:latin typeface="+mj-ea"/>
                <a:ea typeface="+mj-ea"/>
              </a:rPr>
              <a:t>가 주요 원인으로 추정</a:t>
            </a: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000" dirty="0">
                <a:latin typeface="+mj-ea"/>
                <a:ea typeface="+mj-ea"/>
              </a:rPr>
              <a:t>Clinical signs: Estrogen excess, Bone marrow toxicity</a:t>
            </a: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BAF8893E-29A5-DDE9-5C43-1EB2A6CF5C71}"/>
              </a:ext>
            </a:extLst>
          </p:cNvPr>
          <p:cNvSpPr/>
          <p:nvPr/>
        </p:nvSpPr>
        <p:spPr>
          <a:xfrm>
            <a:off x="10408037" y="6098378"/>
            <a:ext cx="838200" cy="847729"/>
          </a:xfrm>
          <a:prstGeom prst="downArrow">
            <a:avLst/>
          </a:prstGeom>
          <a:solidFill>
            <a:srgbClr val="66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6">
            <a:extLst>
              <a:ext uri="{FF2B5EF4-FFF2-40B4-BE49-F238E27FC236}">
                <a16:creationId xmlns:a16="http://schemas.microsoft.com/office/drawing/2014/main" id="{CE92E7BB-86E5-38E0-BC95-D602E80412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00" r="6700"/>
          <a:stretch>
            <a:fillRect/>
          </a:stretch>
        </p:blipFill>
        <p:spPr>
          <a:xfrm>
            <a:off x="14420958" y="7086601"/>
            <a:ext cx="3353203" cy="247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843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A474-4579-EDED-0CFA-5F5A43D8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-note-bg">
            <a:extLst>
              <a:ext uri="{FF2B5EF4-FFF2-40B4-BE49-F238E27FC236}">
                <a16:creationId xmlns:a16="http://schemas.microsoft.com/office/drawing/2014/main" id="{B3B206FF-1D61-D759-6D4E-216439A020B7}"/>
              </a:ext>
            </a:extLst>
          </p:cNvPr>
          <p:cNvSpPr>
            <a:spLocks noGrp="1"/>
          </p:cNvSpPr>
          <p:nvPr/>
        </p:nvSpPr>
        <p:spPr>
          <a:xfrm>
            <a:off x="624700" y="7086601"/>
            <a:ext cx="13602862" cy="2476499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bottom-note-accent">
            <a:extLst>
              <a:ext uri="{FF2B5EF4-FFF2-40B4-BE49-F238E27FC236}">
                <a16:creationId xmlns:a16="http://schemas.microsoft.com/office/drawing/2014/main" id="{667F7E42-386D-275B-16C9-47FCA9DD4C88}"/>
              </a:ext>
            </a:extLst>
          </p:cNvPr>
          <p:cNvSpPr>
            <a:spLocks noGrp="1"/>
          </p:cNvSpPr>
          <p:nvPr/>
        </p:nvSpPr>
        <p:spPr>
          <a:xfrm>
            <a:off x="624700" y="7086601"/>
            <a:ext cx="96304" cy="2476499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wash-a">
            <a:extLst>
              <a:ext uri="{FF2B5EF4-FFF2-40B4-BE49-F238E27FC236}">
                <a16:creationId xmlns:a16="http://schemas.microsoft.com/office/drawing/2014/main" id="{A1B01CC1-7435-F3E0-9E58-B4FC2A216D5F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722DB085-9500-D99A-498B-E6E775914919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5D4FC387-D2A2-B2EF-F3BA-7C40BB97BB7A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11">
            <a:extLst>
              <a:ext uri="{FF2B5EF4-FFF2-40B4-BE49-F238E27FC236}">
                <a16:creationId xmlns:a16="http://schemas.microsoft.com/office/drawing/2014/main" id="{683CC5EC-BA2B-9821-F88C-71A4B0479B97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11">
            <a:extLst>
              <a:ext uri="{FF2B5EF4-FFF2-40B4-BE49-F238E27FC236}">
                <a16:creationId xmlns:a16="http://schemas.microsoft.com/office/drawing/2014/main" id="{8B70166C-460D-A833-4CC8-D9F489C5F4F0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/>
              <a:t>01  Introduction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A9E7CDF1-5544-EF4C-ABB6-0FA3D1BA7034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12573000" cy="13335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360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sz="5000" dirty="0"/>
              <a:t>4 types of Ovarian Tumor</a:t>
            </a:r>
            <a:endParaRPr sz="5000" dirty="0"/>
          </a:p>
        </p:txBody>
      </p:sp>
      <p:sp>
        <p:nvSpPr>
          <p:cNvPr id="13" name="mod-icon-1">
            <a:extLst>
              <a:ext uri="{FF2B5EF4-FFF2-40B4-BE49-F238E27FC236}">
                <a16:creationId xmlns:a16="http://schemas.microsoft.com/office/drawing/2014/main" id="{2D74F9C3-0764-8CBA-4C7C-37B10ADB439F}"/>
              </a:ext>
            </a:extLst>
          </p:cNvPr>
          <p:cNvSpPr>
            <a:spLocks noGrp="1"/>
          </p:cNvSpPr>
          <p:nvPr/>
        </p:nvSpPr>
        <p:spPr>
          <a:xfrm>
            <a:off x="1197362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mod-icon-text-1">
            <a:extLst>
              <a:ext uri="{FF2B5EF4-FFF2-40B4-BE49-F238E27FC236}">
                <a16:creationId xmlns:a16="http://schemas.microsoft.com/office/drawing/2014/main" id="{B3D2E07D-133C-B320-D3CE-515586056EAD}"/>
              </a:ext>
            </a:extLst>
          </p:cNvPr>
          <p:cNvSpPr>
            <a:spLocks noGrp="1"/>
          </p:cNvSpPr>
          <p:nvPr/>
        </p:nvSpPr>
        <p:spPr>
          <a:xfrm>
            <a:off x="1197362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1</a:t>
            </a:r>
            <a:endParaRPr dirty="0"/>
          </a:p>
        </p:txBody>
      </p:sp>
      <p:sp>
        <p:nvSpPr>
          <p:cNvPr id="15" name="mod-title-1">
            <a:extLst>
              <a:ext uri="{FF2B5EF4-FFF2-40B4-BE49-F238E27FC236}">
                <a16:creationId xmlns:a16="http://schemas.microsoft.com/office/drawing/2014/main" id="{0B80CF12-CDEA-826E-D195-0723F4F90C1D}"/>
              </a:ext>
            </a:extLst>
          </p:cNvPr>
          <p:cNvSpPr>
            <a:spLocks noGrp="1"/>
          </p:cNvSpPr>
          <p:nvPr/>
        </p:nvSpPr>
        <p:spPr>
          <a:xfrm>
            <a:off x="1083062" y="4805361"/>
            <a:ext cx="4000500" cy="1152525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Surface epithelial tumors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mod-icon-2">
            <a:extLst>
              <a:ext uri="{FF2B5EF4-FFF2-40B4-BE49-F238E27FC236}">
                <a16:creationId xmlns:a16="http://schemas.microsoft.com/office/drawing/2014/main" id="{A08269A4-10D7-084F-C968-36C3DE72FBFB}"/>
              </a:ext>
            </a:extLst>
          </p:cNvPr>
          <p:cNvSpPr>
            <a:spLocks noGrp="1"/>
          </p:cNvSpPr>
          <p:nvPr/>
        </p:nvSpPr>
        <p:spPr>
          <a:xfrm>
            <a:off x="5359787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mod-icon-text-2">
            <a:extLst>
              <a:ext uri="{FF2B5EF4-FFF2-40B4-BE49-F238E27FC236}">
                <a16:creationId xmlns:a16="http://schemas.microsoft.com/office/drawing/2014/main" id="{39865605-4E66-E942-692F-9FE32975A045}"/>
              </a:ext>
            </a:extLst>
          </p:cNvPr>
          <p:cNvSpPr>
            <a:spLocks noGrp="1"/>
          </p:cNvSpPr>
          <p:nvPr/>
        </p:nvSpPr>
        <p:spPr>
          <a:xfrm>
            <a:off x="5359787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2</a:t>
            </a:r>
            <a:endParaRPr dirty="0"/>
          </a:p>
        </p:txBody>
      </p:sp>
      <p:sp>
        <p:nvSpPr>
          <p:cNvPr id="20" name="mod-title-2">
            <a:extLst>
              <a:ext uri="{FF2B5EF4-FFF2-40B4-BE49-F238E27FC236}">
                <a16:creationId xmlns:a16="http://schemas.microsoft.com/office/drawing/2014/main" id="{EEC193BC-A7BD-DC04-AAC3-C6643764561E}"/>
              </a:ext>
            </a:extLst>
          </p:cNvPr>
          <p:cNvSpPr>
            <a:spLocks noGrp="1"/>
          </p:cNvSpPr>
          <p:nvPr/>
        </p:nvSpPr>
        <p:spPr>
          <a:xfrm>
            <a:off x="5245487" y="4805361"/>
            <a:ext cx="4000500" cy="1152523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Germ cell tumors</a:t>
            </a:r>
          </a:p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mod-bottom">
            <a:extLst>
              <a:ext uri="{FF2B5EF4-FFF2-40B4-BE49-F238E27FC236}">
                <a16:creationId xmlns:a16="http://schemas.microsoft.com/office/drawing/2014/main" id="{D9C6B079-71F0-ED0B-B4A1-E9FF6CB683B1}"/>
              </a:ext>
            </a:extLst>
          </p:cNvPr>
          <p:cNvSpPr>
            <a:spLocks noGrp="1"/>
          </p:cNvSpPr>
          <p:nvPr/>
        </p:nvSpPr>
        <p:spPr>
          <a:xfrm>
            <a:off x="7179062" y="2309812"/>
            <a:ext cx="10096500" cy="4191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2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dirty="0"/>
              <a:t>Based on Histogenesis</a:t>
            </a:r>
            <a:endParaRPr dirty="0"/>
          </a:p>
        </p:txBody>
      </p:sp>
      <p:sp>
        <p:nvSpPr>
          <p:cNvPr id="30" name="mod-icon-1">
            <a:extLst>
              <a:ext uri="{FF2B5EF4-FFF2-40B4-BE49-F238E27FC236}">
                <a16:creationId xmlns:a16="http://schemas.microsoft.com/office/drawing/2014/main" id="{64E239A1-BA59-59C7-169C-4499D7FA736D}"/>
              </a:ext>
            </a:extLst>
          </p:cNvPr>
          <p:cNvSpPr>
            <a:spLocks noGrp="1"/>
          </p:cNvSpPr>
          <p:nvPr/>
        </p:nvSpPr>
        <p:spPr>
          <a:xfrm>
            <a:off x="9360287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mod-icon-text-1">
            <a:extLst>
              <a:ext uri="{FF2B5EF4-FFF2-40B4-BE49-F238E27FC236}">
                <a16:creationId xmlns:a16="http://schemas.microsoft.com/office/drawing/2014/main" id="{CF270C3C-90B9-8E25-8E00-54427CE0477D}"/>
              </a:ext>
            </a:extLst>
          </p:cNvPr>
          <p:cNvSpPr>
            <a:spLocks noGrp="1"/>
          </p:cNvSpPr>
          <p:nvPr/>
        </p:nvSpPr>
        <p:spPr>
          <a:xfrm>
            <a:off x="9360287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3</a:t>
            </a:r>
            <a:endParaRPr dirty="0"/>
          </a:p>
        </p:txBody>
      </p:sp>
      <p:sp>
        <p:nvSpPr>
          <p:cNvPr id="32" name="mod-title-1">
            <a:extLst>
              <a:ext uri="{FF2B5EF4-FFF2-40B4-BE49-F238E27FC236}">
                <a16:creationId xmlns:a16="http://schemas.microsoft.com/office/drawing/2014/main" id="{BB58DFFC-1395-4623-9E0C-AD39CD453B3B}"/>
              </a:ext>
            </a:extLst>
          </p:cNvPr>
          <p:cNvSpPr>
            <a:spLocks noGrp="1"/>
          </p:cNvSpPr>
          <p:nvPr/>
        </p:nvSpPr>
        <p:spPr>
          <a:xfrm>
            <a:off x="9245987" y="4805362"/>
            <a:ext cx="4000500" cy="1152524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Sex cord-stromal tumors</a:t>
            </a:r>
          </a:p>
        </p:txBody>
      </p:sp>
      <p:sp>
        <p:nvSpPr>
          <p:cNvPr id="33" name="mod-icon-2">
            <a:extLst>
              <a:ext uri="{FF2B5EF4-FFF2-40B4-BE49-F238E27FC236}">
                <a16:creationId xmlns:a16="http://schemas.microsoft.com/office/drawing/2014/main" id="{9A380746-3B41-1CDB-6F93-7FE41627091C}"/>
              </a:ext>
            </a:extLst>
          </p:cNvPr>
          <p:cNvSpPr>
            <a:spLocks noGrp="1"/>
          </p:cNvSpPr>
          <p:nvPr/>
        </p:nvSpPr>
        <p:spPr>
          <a:xfrm>
            <a:off x="13389362" y="3643312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18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mod-icon-text-2">
            <a:extLst>
              <a:ext uri="{FF2B5EF4-FFF2-40B4-BE49-F238E27FC236}">
                <a16:creationId xmlns:a16="http://schemas.microsoft.com/office/drawing/2014/main" id="{EA080468-51FD-E08E-A731-85510A36DCE3}"/>
              </a:ext>
            </a:extLst>
          </p:cNvPr>
          <p:cNvSpPr>
            <a:spLocks noGrp="1"/>
          </p:cNvSpPr>
          <p:nvPr/>
        </p:nvSpPr>
        <p:spPr>
          <a:xfrm>
            <a:off x="13389362" y="3805237"/>
            <a:ext cx="838200" cy="4572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2550" b="0">
                <a:solidFill>
                  <a:srgbClr val="818AFF"/>
                </a:solidFill>
                <a:latin typeface="A2Z 5 Medium"/>
                <a:ea typeface="A2Z 5 Medium"/>
                <a:cs typeface="A2Z 5 Medium"/>
              </a:defRPr>
            </a:pPr>
            <a:r>
              <a:rPr lang="en-US" altLang="ko-KR" dirty="0"/>
              <a:t>4</a:t>
            </a:r>
            <a:endParaRPr dirty="0"/>
          </a:p>
        </p:txBody>
      </p:sp>
      <p:sp>
        <p:nvSpPr>
          <p:cNvPr id="35" name="mod-title-2">
            <a:extLst>
              <a:ext uri="{FF2B5EF4-FFF2-40B4-BE49-F238E27FC236}">
                <a16:creationId xmlns:a16="http://schemas.microsoft.com/office/drawing/2014/main" id="{605E8775-FF4C-81F8-5AE2-B749BD7B6E76}"/>
              </a:ext>
            </a:extLst>
          </p:cNvPr>
          <p:cNvSpPr>
            <a:spLocks noGrp="1"/>
          </p:cNvSpPr>
          <p:nvPr/>
        </p:nvSpPr>
        <p:spPr>
          <a:xfrm>
            <a:off x="13275062" y="4805361"/>
            <a:ext cx="4000500" cy="1152525"/>
          </a:xfrm>
          <a:prstGeom prst="rect">
            <a:avLst/>
          </a:prstGeom>
        </p:spPr>
        <p:txBody>
          <a:bodyPr anchor="ctr"/>
          <a:lstStyle/>
          <a:p>
            <a:pPr>
              <a:defRPr sz="27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dirty="0">
                <a:solidFill>
                  <a:srgbClr val="3333CC"/>
                </a:solidFill>
                <a:latin typeface="+mn-ea"/>
              </a:rPr>
              <a:t>Metastatic ovarian tumors</a:t>
            </a:r>
            <a:endParaRPr dirty="0">
              <a:solidFill>
                <a:srgbClr val="3333CC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916BE-6C9C-CE5C-DB7E-ABA927FE4FA1}"/>
              </a:ext>
            </a:extLst>
          </p:cNvPr>
          <p:cNvSpPr txBox="1"/>
          <p:nvPr/>
        </p:nvSpPr>
        <p:spPr>
          <a:xfrm>
            <a:off x="914400" y="7304407"/>
            <a:ext cx="13216286" cy="200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dirty="0">
                <a:latin typeface="+mj-ea"/>
                <a:ea typeface="+mj-ea"/>
              </a:rPr>
              <a:t>다른 장기에서 난소로 전이된 종양</a:t>
            </a: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dirty="0">
                <a:latin typeface="+mj-ea"/>
                <a:ea typeface="+mj-ea"/>
              </a:rPr>
              <a:t>대표 </a:t>
            </a:r>
            <a:r>
              <a:rPr lang="ko-KR" altLang="en-US" sz="2000" dirty="0" err="1">
                <a:latin typeface="+mj-ea"/>
                <a:ea typeface="+mj-ea"/>
              </a:rPr>
              <a:t>원발</a:t>
            </a:r>
            <a:r>
              <a:rPr lang="ko-KR" altLang="en-US" sz="2000" dirty="0">
                <a:latin typeface="+mj-ea"/>
                <a:ea typeface="+mj-ea"/>
              </a:rPr>
              <a:t> 부위</a:t>
            </a:r>
            <a:r>
              <a:rPr lang="en-US" altLang="ko-KR" sz="2000" dirty="0">
                <a:latin typeface="+mj-ea"/>
                <a:ea typeface="+mj-ea"/>
              </a:rPr>
              <a:t>: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mammary gland,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stomach,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pancreas,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intestine,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dirty="0">
                <a:latin typeface="+mj-ea"/>
                <a:ea typeface="+mj-ea"/>
              </a:rPr>
              <a:t>lymphoma</a:t>
            </a:r>
            <a:endParaRPr lang="ko-KR" altLang="en-US" sz="2000" dirty="0">
              <a:latin typeface="+mj-ea"/>
              <a:ea typeface="+mj-ea"/>
            </a:endParaRP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000" dirty="0">
                <a:latin typeface="+mj-ea"/>
                <a:ea typeface="+mj-ea"/>
              </a:rPr>
              <a:t>etiology: </a:t>
            </a:r>
            <a:r>
              <a:rPr lang="ko-KR" altLang="en-US" sz="2000" dirty="0">
                <a:latin typeface="+mj-ea"/>
                <a:ea typeface="+mj-ea"/>
              </a:rPr>
              <a:t>난소는 혈류 풍부</a:t>
            </a:r>
            <a:r>
              <a:rPr lang="en-US" altLang="ko-KR" sz="2000" dirty="0">
                <a:latin typeface="+mj-ea"/>
                <a:ea typeface="+mj-ea"/>
              </a:rPr>
              <a:t>,</a:t>
            </a:r>
            <a:r>
              <a:rPr lang="ko-KR" altLang="en-US" sz="2000" dirty="0">
                <a:latin typeface="+mj-ea"/>
                <a:ea typeface="+mj-ea"/>
              </a:rPr>
              <a:t> 림프 공급 풍부</a:t>
            </a:r>
            <a:r>
              <a:rPr lang="en-US" altLang="ko-KR" sz="2000" dirty="0">
                <a:latin typeface="+mj-ea"/>
                <a:ea typeface="+mj-ea"/>
              </a:rPr>
              <a:t>,</a:t>
            </a:r>
            <a:r>
              <a:rPr lang="ko-KR" altLang="en-US" sz="2000" dirty="0">
                <a:latin typeface="+mj-ea"/>
                <a:ea typeface="+mj-ea"/>
              </a:rPr>
              <a:t> 복막과 인접하여 </a:t>
            </a:r>
            <a:r>
              <a:rPr lang="en-US" altLang="ko-KR" sz="2000" dirty="0">
                <a:latin typeface="+mj-ea"/>
                <a:ea typeface="+mj-ea"/>
              </a:rPr>
              <a:t>metastatic implantation</a:t>
            </a:r>
            <a:r>
              <a:rPr lang="ko-KR" altLang="en-US" sz="2000" dirty="0">
                <a:latin typeface="+mj-ea"/>
                <a:ea typeface="+mj-ea"/>
              </a:rPr>
              <a:t>에 취약</a:t>
            </a: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000" dirty="0">
                <a:latin typeface="+mj-ea"/>
                <a:ea typeface="+mj-ea"/>
              </a:rPr>
              <a:t>Clinical signs: </a:t>
            </a:r>
            <a:r>
              <a:rPr lang="ko-KR" altLang="en-US" sz="2000" dirty="0">
                <a:latin typeface="+mj-ea"/>
                <a:ea typeface="+mj-ea"/>
              </a:rPr>
              <a:t>대부분 </a:t>
            </a:r>
            <a:r>
              <a:rPr lang="ko-KR" altLang="en-US" sz="2000" dirty="0" err="1">
                <a:latin typeface="+mj-ea"/>
                <a:ea typeface="+mj-ea"/>
              </a:rPr>
              <a:t>원발암의</a:t>
            </a:r>
            <a:r>
              <a:rPr lang="ko-KR" altLang="en-US" sz="2000" dirty="0">
                <a:latin typeface="+mj-ea"/>
                <a:ea typeface="+mj-ea"/>
              </a:rPr>
              <a:t> 증상이 우세</a:t>
            </a: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CF023321-C225-CEF3-87FB-4E7A7F324BC6}"/>
              </a:ext>
            </a:extLst>
          </p:cNvPr>
          <p:cNvSpPr/>
          <p:nvPr/>
        </p:nvSpPr>
        <p:spPr>
          <a:xfrm rot="1752279">
            <a:off x="12725400" y="6076945"/>
            <a:ext cx="838200" cy="847729"/>
          </a:xfrm>
          <a:prstGeom prst="downArrow">
            <a:avLst/>
          </a:prstGeom>
          <a:solidFill>
            <a:srgbClr val="66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75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D3C9-68E5-566A-3AEB-881D8F89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ttom-note-bg">
            <a:extLst>
              <a:ext uri="{FF2B5EF4-FFF2-40B4-BE49-F238E27FC236}">
                <a16:creationId xmlns:a16="http://schemas.microsoft.com/office/drawing/2014/main" id="{43FF862E-73B3-DE9C-F6F4-B2796721CF00}"/>
              </a:ext>
            </a:extLst>
          </p:cNvPr>
          <p:cNvSpPr>
            <a:spLocks noGrp="1"/>
          </p:cNvSpPr>
          <p:nvPr/>
        </p:nvSpPr>
        <p:spPr>
          <a:xfrm>
            <a:off x="646772" y="8097383"/>
            <a:ext cx="12497728" cy="1694356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wash-a">
            <a:extLst>
              <a:ext uri="{FF2B5EF4-FFF2-40B4-BE49-F238E27FC236}">
                <a16:creationId xmlns:a16="http://schemas.microsoft.com/office/drawing/2014/main" id="{FEFC85F9-25D4-1779-3B79-F0686C96401C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85A2A808-5A49-5CB2-25D5-7C627241B5D9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1305EA7A-8AA2-CD6A-8DF2-9A893B8D9335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D0E7E22E-AC46-9C9B-D0D1-C869586E025B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3A9B15CF-B3F0-49AF-465C-F1BD5D002ABE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41034DCB-826E-1339-0DFC-1350314A3BEA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Systemic Effects </a:t>
            </a:r>
            <a:r>
              <a:rPr lang="EN-US" altLang="ko-KR" sz="3000" dirty="0"/>
              <a:t>of Malignant Ovarian Tumors</a:t>
            </a:r>
            <a:endParaRPr sz="3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94E40FA3-1971-65F3-3C31-04FCE5481672}"/>
              </a:ext>
            </a:extLst>
          </p:cNvPr>
          <p:cNvSpPr>
            <a:spLocks noGrp="1"/>
          </p:cNvSpPr>
          <p:nvPr/>
        </p:nvSpPr>
        <p:spPr>
          <a:xfrm>
            <a:off x="816429" y="3546091"/>
            <a:ext cx="16824800" cy="4448179"/>
          </a:xfrm>
          <a:prstGeom prst="rect">
            <a:avLst/>
          </a:prstGeom>
        </p:spPr>
        <p:txBody>
          <a:bodyPr anchor="t"/>
          <a:lstStyle/>
          <a:p>
            <a:pPr algn="just">
              <a:lnSpc>
                <a:spcPct val="160000"/>
              </a:lnSpc>
              <a:buClr>
                <a:srgbClr val="6666FF"/>
              </a:buClr>
              <a:defRPr/>
            </a:pPr>
            <a:r>
              <a:rPr lang="en-US" altLang="ko-KR" sz="2200" dirty="0">
                <a:latin typeface="+mj-ea"/>
                <a:ea typeface="+mj-ea"/>
              </a:rPr>
              <a:t>1. Cancer-associated inflammation</a:t>
            </a: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IL-1</a:t>
            </a:r>
            <a:r>
              <a:rPr lang="el-GR" altLang="ko-KR" sz="2200" dirty="0">
                <a:latin typeface="+mj-ea"/>
                <a:ea typeface="+mj-ea"/>
              </a:rPr>
              <a:t>β, </a:t>
            </a:r>
            <a:r>
              <a:rPr lang="en-US" altLang="ko-KR" sz="2200" dirty="0">
                <a:latin typeface="+mj-ea"/>
                <a:ea typeface="+mj-ea"/>
              </a:rPr>
              <a:t>IL-6, TNF-</a:t>
            </a:r>
            <a:r>
              <a:rPr lang="el-GR" altLang="ko-KR" sz="2200" dirty="0">
                <a:latin typeface="+mj-ea"/>
                <a:ea typeface="+mj-ea"/>
              </a:rPr>
              <a:t>α, </a:t>
            </a:r>
            <a:r>
              <a:rPr lang="en-US" altLang="ko-KR" sz="2200" dirty="0">
                <a:latin typeface="+mj-ea"/>
                <a:ea typeface="+mj-ea"/>
              </a:rPr>
              <a:t>TGF-</a:t>
            </a:r>
            <a:r>
              <a:rPr lang="el-GR" altLang="ko-KR" sz="2200" dirty="0">
                <a:latin typeface="+mj-ea"/>
                <a:ea typeface="+mj-ea"/>
              </a:rPr>
              <a:t>β </a:t>
            </a:r>
            <a:r>
              <a:rPr lang="ko-KR" altLang="en-US" sz="2200" dirty="0">
                <a:latin typeface="+mj-ea"/>
                <a:ea typeface="+mj-ea"/>
              </a:rPr>
              <a:t>등 분비</a:t>
            </a:r>
            <a:endParaRPr lang="en-US" altLang="ko-KR" sz="2200" dirty="0">
              <a:latin typeface="+mj-ea"/>
              <a:ea typeface="+mj-ea"/>
            </a:endParaRP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-&gt; fever, cachexia, endothelial activation, vascular leakage </a:t>
            </a:r>
            <a:r>
              <a:rPr lang="ko-KR" altLang="en-US" sz="2200" dirty="0">
                <a:latin typeface="+mj-ea"/>
                <a:ea typeface="+mj-ea"/>
              </a:rPr>
              <a:t>등</a:t>
            </a: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endParaRPr lang="ko-KR" altLang="en-US" sz="2200" dirty="0">
              <a:latin typeface="+mj-ea"/>
              <a:ea typeface="+mj-ea"/>
            </a:endParaRPr>
          </a:p>
          <a:p>
            <a:pPr algn="just">
              <a:lnSpc>
                <a:spcPct val="160000"/>
              </a:lnSpc>
              <a:buClr>
                <a:srgbClr val="6666FF"/>
              </a:buClr>
              <a:defRPr/>
            </a:pPr>
            <a:r>
              <a:rPr lang="en-US" altLang="ko-KR" sz="2200" dirty="0">
                <a:latin typeface="+mj-ea"/>
                <a:ea typeface="+mj-ea"/>
              </a:rPr>
              <a:t>2. Hypercoagulability</a:t>
            </a: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tissue factor, cancer procoagulant</a:t>
            </a:r>
            <a:r>
              <a:rPr lang="ko-KR" altLang="en-US" sz="2200" dirty="0">
                <a:latin typeface="+mj-ea"/>
                <a:ea typeface="+mj-ea"/>
              </a:rPr>
              <a:t> 발현해</a:t>
            </a:r>
            <a:r>
              <a:rPr lang="en-US" altLang="ko-KR" sz="2200" dirty="0">
                <a:latin typeface="+mj-ea"/>
                <a:ea typeface="+mj-ea"/>
              </a:rPr>
              <a:t>,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coagulation cascade</a:t>
            </a:r>
            <a:r>
              <a:rPr lang="ko-KR" altLang="en-US" sz="2200" dirty="0">
                <a:latin typeface="+mj-ea"/>
                <a:ea typeface="+mj-ea"/>
              </a:rPr>
              <a:t> 활성화 </a:t>
            </a:r>
            <a:endParaRPr lang="en-US" altLang="ko-KR" sz="2200" dirty="0">
              <a:latin typeface="+mj-ea"/>
              <a:ea typeface="+mj-ea"/>
            </a:endParaRPr>
          </a:p>
          <a:p>
            <a:pPr marL="800100" lvl="1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-&gt;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DIC, pulmonary thromboembolism, renal infarction, microthrombi </a:t>
            </a:r>
            <a:r>
              <a:rPr lang="ko-KR" altLang="en-US" sz="2200" dirty="0">
                <a:latin typeface="+mj-ea"/>
                <a:ea typeface="+mj-ea"/>
              </a:rPr>
              <a:t>등</a:t>
            </a:r>
          </a:p>
          <a:p>
            <a:pPr marL="342900" indent="-342900" algn="just">
              <a:lnSpc>
                <a:spcPct val="160000"/>
              </a:lnSpc>
              <a:buClr>
                <a:srgbClr val="6666FF"/>
              </a:buClr>
              <a:buFont typeface="Wingdings" panose="05000000000000000000" pitchFamily="2" charset="2"/>
              <a:buChar char="§"/>
              <a:defRPr/>
            </a:pPr>
            <a:endParaRPr lang="ko-KR" altLang="en-US" sz="22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339E3-A2E5-C651-EADD-D7C3F19AF82B}"/>
              </a:ext>
            </a:extLst>
          </p:cNvPr>
          <p:cNvSpPr txBox="1"/>
          <p:nvPr/>
        </p:nvSpPr>
        <p:spPr>
          <a:xfrm>
            <a:off x="816429" y="8262243"/>
            <a:ext cx="12099106" cy="1256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defRPr/>
            </a:pPr>
            <a:r>
              <a:rPr lang="en-US" altLang="ko-KR" sz="2500" dirty="0">
                <a:latin typeface="+mj-ea"/>
                <a:ea typeface="+mj-ea"/>
              </a:rPr>
              <a:t>Sepsis, Cytokine storm, Endothelial injury, Microvascular </a:t>
            </a:r>
            <a:r>
              <a:rPr lang="en-US" altLang="ko-KR" sz="2500" dirty="0" err="1">
                <a:latin typeface="+mj-ea"/>
                <a:ea typeface="+mj-ea"/>
              </a:rPr>
              <a:t>thrombosi</a:t>
            </a:r>
            <a:r>
              <a:rPr lang="ko-KR" altLang="en-US" sz="2500" dirty="0">
                <a:latin typeface="+mj-ea"/>
                <a:ea typeface="+mj-ea"/>
              </a:rPr>
              <a:t>로 인해</a:t>
            </a:r>
            <a:endParaRPr lang="en-US" altLang="ko-KR" sz="2500" dirty="0">
              <a:latin typeface="+mj-ea"/>
              <a:ea typeface="+mj-ea"/>
            </a:endParaRPr>
          </a:p>
          <a:p>
            <a:pPr algn="ctr">
              <a:lnSpc>
                <a:spcPct val="160000"/>
              </a:lnSpc>
              <a:defRPr/>
            </a:pPr>
            <a:r>
              <a:rPr lang="en-US" altLang="ko-KR" sz="2500" dirty="0">
                <a:latin typeface="+mj-ea"/>
                <a:ea typeface="+mj-ea"/>
              </a:rPr>
              <a:t>ARDS</a:t>
            </a:r>
            <a:r>
              <a:rPr lang="ko-KR" altLang="en-US" sz="2500" dirty="0">
                <a:latin typeface="+mj-ea"/>
                <a:ea typeface="+mj-ea"/>
              </a:rPr>
              <a:t>와 같은 </a:t>
            </a:r>
            <a:r>
              <a:rPr lang="en-US" altLang="ko-KR" sz="2500" dirty="0">
                <a:latin typeface="+mj-ea"/>
                <a:ea typeface="+mj-ea"/>
              </a:rPr>
              <a:t>SIRS</a:t>
            </a:r>
            <a:r>
              <a:rPr lang="ko-KR" altLang="en-US" sz="2500" dirty="0">
                <a:latin typeface="+mj-ea"/>
                <a:ea typeface="+mj-ea"/>
              </a:rPr>
              <a:t>가 발생</a:t>
            </a:r>
            <a:r>
              <a:rPr lang="en-US" altLang="ko-KR" sz="2500" dirty="0">
                <a:latin typeface="+mj-ea"/>
                <a:ea typeface="+mj-ea"/>
              </a:rPr>
              <a:t> =&gt; </a:t>
            </a:r>
            <a:r>
              <a:rPr lang="ko-KR" altLang="ko-KR" sz="2500" dirty="0" err="1">
                <a:solidFill>
                  <a:srgbClr val="FF0000"/>
                </a:solidFill>
                <a:latin typeface="+mj-ea"/>
                <a:ea typeface="+mj-ea"/>
              </a:rPr>
              <a:t>life-threatening</a:t>
            </a:r>
            <a:endParaRPr lang="en-US" altLang="ko-KR" sz="2500" dirty="0"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D74ABCA-D38F-49B1-2C50-CABFF27A43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448371" y="2682413"/>
            <a:ext cx="4502488" cy="304293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CA6F128-D296-3187-CD25-53A4B29757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448370" y="6353473"/>
            <a:ext cx="4362516" cy="31654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54ED59-9E02-1BCF-B674-56D0CB6975CA}"/>
              </a:ext>
            </a:extLst>
          </p:cNvPr>
          <p:cNvSpPr txBox="1"/>
          <p:nvPr/>
        </p:nvSpPr>
        <p:spPr>
          <a:xfrm>
            <a:off x="13448370" y="5784996"/>
            <a:ext cx="44827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Journal of </a:t>
            </a:r>
            <a:r>
              <a:rPr lang="en-US" altLang="ko-KR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Hematology&amp;Oncology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, Targeting inflammation as cancer therapy,, 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5A6FB5-DFDD-79D6-1087-C2607BB7C258}"/>
              </a:ext>
            </a:extLst>
          </p:cNvPr>
          <p:cNvSpPr txBox="1"/>
          <p:nvPr/>
        </p:nvSpPr>
        <p:spPr>
          <a:xfrm>
            <a:off x="13448370" y="9518934"/>
            <a:ext cx="4502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NATURE, The relationship between pancreatic cancer and hypercoagulability: a comprehensive review on epidemiological and biological issues, 2019</a:t>
            </a:r>
          </a:p>
        </p:txBody>
      </p:sp>
    </p:spTree>
    <p:extLst>
      <p:ext uri="{BB962C8B-B14F-4D97-AF65-F5344CB8AC3E}">
        <p14:creationId xmlns:p14="http://schemas.microsoft.com/office/powerpoint/2010/main" val="2427910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F8DA9-4A89-7383-D89A-C04B49C0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9BF12EE2-8D64-E08F-505E-48FE799D688B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1BEF5E56-0429-CCB4-CF35-918739766082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64715C2A-8B48-9267-5365-56112BF28876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C8819BE4-20BE-20BF-DDF0-F244F86EBE64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C1ACC1F7-0405-B7A7-8826-5BC70E6565E3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1097DA2A-2D8D-0381-4E19-B06577759F6F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What is </a:t>
            </a:r>
            <a:r>
              <a:rPr lang="EN-US" altLang="ko-KR" sz="5000" dirty="0">
                <a:solidFill>
                  <a:srgbClr val="3333CC"/>
                </a:solidFill>
              </a:rPr>
              <a:t>SIRS</a:t>
            </a:r>
            <a:r>
              <a:rPr lang="EN-US" altLang="ko-KR" sz="5000" dirty="0"/>
              <a:t>?</a:t>
            </a:r>
            <a:endParaRPr sz="3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5F23A2AC-6EB5-B7AC-17AD-7308CE8579F8}"/>
              </a:ext>
            </a:extLst>
          </p:cNvPr>
          <p:cNvSpPr>
            <a:spLocks noGrp="1"/>
          </p:cNvSpPr>
          <p:nvPr/>
        </p:nvSpPr>
        <p:spPr>
          <a:xfrm>
            <a:off x="10001250" y="6182768"/>
            <a:ext cx="8249081" cy="4448179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SIRS </a:t>
            </a:r>
            <a:r>
              <a:rPr lang="en-US" altLang="ko-KR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(Systemic Inflammatory Response Syndrome)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  : body wide inflammatory response regardless of cause</a:t>
            </a:r>
          </a:p>
          <a:p>
            <a:pPr>
              <a:lnSpc>
                <a:spcPct val="150000"/>
              </a:lnSpc>
              <a:defRPr/>
            </a:pPr>
            <a:endParaRPr lang="en-US" altLang="ko-KR" sz="2200" dirty="0">
              <a:solidFill>
                <a:schemeClr val="dk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Pathogenesis</a:t>
            </a:r>
            <a:r>
              <a:rPr lang="ko-KR" altLang="en-US" sz="22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of SIRS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1. Initial insult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     : Infection / Trauma / Burns / Pancreatitis / Tumor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2. Recognition / Cytokine storm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EB3A552-59CE-64B4-E2A4-E042FA59F0C9}"/>
              </a:ext>
            </a:extLst>
          </p:cNvPr>
          <p:cNvGrpSpPr/>
          <p:nvPr/>
        </p:nvGrpSpPr>
        <p:grpSpPr>
          <a:xfrm>
            <a:off x="609368" y="3238500"/>
            <a:ext cx="9025285" cy="6528710"/>
            <a:chOff x="8905875" y="3152775"/>
            <a:chExt cx="9025285" cy="652871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2347B97-58BA-7309-B3E1-9EDDFC7BEE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8905875" y="3159307"/>
              <a:ext cx="9025285" cy="6522178"/>
            </a:xfrm>
            <a:prstGeom prst="rect">
              <a:avLst/>
            </a:prstGeom>
          </p:spPr>
        </p:pic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A362CC6-8252-A721-1963-F16DA5F9243A}"/>
                </a:ext>
              </a:extLst>
            </p:cNvPr>
            <p:cNvSpPr/>
            <p:nvPr/>
          </p:nvSpPr>
          <p:spPr>
            <a:xfrm>
              <a:off x="8905875" y="3152775"/>
              <a:ext cx="9025285" cy="660942"/>
            </a:xfrm>
            <a:prstGeom prst="ellipse">
              <a:avLst/>
            </a:prstGeom>
            <a:noFill/>
            <a:ln w="38100"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81854AD-392E-D3B7-B936-131C82E432F5}"/>
                </a:ext>
              </a:extLst>
            </p:cNvPr>
            <p:cNvSpPr/>
            <p:nvPr/>
          </p:nvSpPr>
          <p:spPr>
            <a:xfrm>
              <a:off x="11321143" y="6858000"/>
              <a:ext cx="1823357" cy="762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dirty="0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BE19FA9-6389-4CB2-A747-4BBD98EC1612}"/>
                </a:ext>
              </a:extLst>
            </p:cNvPr>
            <p:cNvSpPr/>
            <p:nvPr/>
          </p:nvSpPr>
          <p:spPr>
            <a:xfrm>
              <a:off x="14005932" y="5886635"/>
              <a:ext cx="1471961" cy="86096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E70A3BA9-DD56-2286-D2AA-792F6F775A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413472" y="1438702"/>
            <a:ext cx="3091563" cy="456204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59F2431-2ACD-B765-CACE-95D2D48FB84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870"/>
          <a:stretch>
            <a:fillRect/>
          </a:stretch>
        </p:blipFill>
        <p:spPr>
          <a:xfrm>
            <a:off x="10124578" y="3282678"/>
            <a:ext cx="4052905" cy="2718072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6DEFFD5-7E50-0AE9-2A00-62B21C2C405A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7181386" y="4089942"/>
            <a:ext cx="8777867" cy="23129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EEB2DF0-F9C5-CC23-3351-4E399CA29A62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8720253" y="2464858"/>
            <a:ext cx="1121219" cy="78017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C2316FC-4CDC-1B5C-3FEB-8D2FA411A814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7181386" y="4715918"/>
            <a:ext cx="3475463" cy="168692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F3E8463-B8F9-729E-AC28-709217542988}"/>
              </a:ext>
            </a:extLst>
          </p:cNvPr>
          <p:cNvSpPr txBox="1"/>
          <p:nvPr/>
        </p:nvSpPr>
        <p:spPr>
          <a:xfrm>
            <a:off x="9841472" y="2280192"/>
            <a:ext cx="1121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DAMP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33DF12-525A-D984-F494-B395F4E80213}"/>
              </a:ext>
            </a:extLst>
          </p:cNvPr>
          <p:cNvSpPr txBox="1"/>
          <p:nvPr/>
        </p:nvSpPr>
        <p:spPr>
          <a:xfrm>
            <a:off x="609367" y="9825335"/>
            <a:ext cx="90252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Cell Press, DAMPs and DAMP-sensing receptors in inflammation and diseases, 2024</a:t>
            </a:r>
          </a:p>
        </p:txBody>
      </p:sp>
    </p:spTree>
    <p:extLst>
      <p:ext uri="{BB962C8B-B14F-4D97-AF65-F5344CB8AC3E}">
        <p14:creationId xmlns:p14="http://schemas.microsoft.com/office/powerpoint/2010/main" val="4224644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4FFBF-B8C5-1E4A-485F-981F5054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01ECCDB3-FCC0-4B45-9459-12D23859044F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6A607BB2-344D-405F-F2C7-5949EEA80321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6F46BF3C-BCF4-B846-A93F-00D25255D2A3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C535018F-8D42-7B78-4392-9CC6BD5522EE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BFC0CD73-19B1-F978-FC17-55833D933439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E1E927F8-9C9E-B5AB-4EE5-7F14D6E1D947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What is </a:t>
            </a:r>
            <a:r>
              <a:rPr lang="EN-US" altLang="ko-KR" sz="5000" dirty="0">
                <a:solidFill>
                  <a:srgbClr val="3333CC"/>
                </a:solidFill>
              </a:rPr>
              <a:t>SIRS</a:t>
            </a:r>
            <a:r>
              <a:rPr lang="EN-US" altLang="ko-KR" sz="5000" dirty="0"/>
              <a:t>?</a:t>
            </a:r>
            <a:endParaRPr sz="3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E071A20D-B437-A9CB-E1CD-01E2F607313E}"/>
              </a:ext>
            </a:extLst>
          </p:cNvPr>
          <p:cNvSpPr>
            <a:spLocks noGrp="1"/>
          </p:cNvSpPr>
          <p:nvPr/>
        </p:nvSpPr>
        <p:spPr>
          <a:xfrm>
            <a:off x="10001250" y="6182768"/>
            <a:ext cx="8249081" cy="4448179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SIRS </a:t>
            </a:r>
            <a:r>
              <a:rPr lang="en-US" altLang="ko-KR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(Systemic Inflammatory Response Syndrome)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  : body wide inflammatory response regardless of cause</a:t>
            </a:r>
          </a:p>
          <a:p>
            <a:pPr>
              <a:lnSpc>
                <a:spcPct val="150000"/>
              </a:lnSpc>
              <a:defRPr/>
            </a:pPr>
            <a:endParaRPr lang="en-US" altLang="ko-KR" sz="2200" dirty="0">
              <a:solidFill>
                <a:schemeClr val="dk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Pathogenesis</a:t>
            </a:r>
            <a:r>
              <a:rPr lang="ko-KR" altLang="en-US" sz="22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of SIRS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1. Initial insult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     : Infection / Trauma / Burns / Pancreatitis / Tumor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2. Recognition / Cytokine storm</a:t>
            </a:r>
          </a:p>
          <a:p>
            <a:pPr>
              <a:lnSpc>
                <a:spcPct val="150000"/>
              </a:lnSpc>
              <a:defRPr/>
            </a:pPr>
            <a:endParaRPr lang="en-US" altLang="ko-KR" sz="22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6D4356-EA8A-E13E-36CF-505D728CCDBF}"/>
              </a:ext>
            </a:extLst>
          </p:cNvPr>
          <p:cNvGrpSpPr/>
          <p:nvPr/>
        </p:nvGrpSpPr>
        <p:grpSpPr>
          <a:xfrm>
            <a:off x="609368" y="3238500"/>
            <a:ext cx="9025285" cy="6528710"/>
            <a:chOff x="8905875" y="3152775"/>
            <a:chExt cx="9025285" cy="652871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9639907-C5F1-B6B4-C24D-B2285A6F2C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8905875" y="3159307"/>
              <a:ext cx="9025285" cy="6522178"/>
            </a:xfrm>
            <a:prstGeom prst="rect">
              <a:avLst/>
            </a:prstGeom>
          </p:spPr>
        </p:pic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AAF58F9-CABB-FCA1-4A63-DA373E87C036}"/>
                </a:ext>
              </a:extLst>
            </p:cNvPr>
            <p:cNvSpPr/>
            <p:nvPr/>
          </p:nvSpPr>
          <p:spPr>
            <a:xfrm>
              <a:off x="8905875" y="3152775"/>
              <a:ext cx="9025285" cy="660942"/>
            </a:xfrm>
            <a:prstGeom prst="ellipse">
              <a:avLst/>
            </a:prstGeom>
            <a:noFill/>
            <a:ln w="38100"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BF2ECEF-7E00-5DA3-4FAE-CEB9C08ADB32}"/>
                </a:ext>
              </a:extLst>
            </p:cNvPr>
            <p:cNvSpPr/>
            <p:nvPr/>
          </p:nvSpPr>
          <p:spPr>
            <a:xfrm>
              <a:off x="11321143" y="6858000"/>
              <a:ext cx="1823357" cy="762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 dirty="0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81DCBFF-E86E-A5DA-AFFD-CE25504F85F1}"/>
                </a:ext>
              </a:extLst>
            </p:cNvPr>
            <p:cNvSpPr/>
            <p:nvPr/>
          </p:nvSpPr>
          <p:spPr>
            <a:xfrm>
              <a:off x="14005932" y="5886635"/>
              <a:ext cx="1471961" cy="86096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3CD937FD-0970-3CD8-0B05-62A8A5DE2D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413472" y="1438702"/>
            <a:ext cx="3091563" cy="456204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591D83C-1E22-C877-1DDA-08CD5D3D58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870"/>
          <a:stretch>
            <a:fillRect/>
          </a:stretch>
        </p:blipFill>
        <p:spPr>
          <a:xfrm>
            <a:off x="10124578" y="3282678"/>
            <a:ext cx="4052905" cy="2718072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AED22F2-578D-BEA8-8A0C-9DD20C262A40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7181386" y="4089942"/>
            <a:ext cx="8777867" cy="23129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8A67EEE-3EC0-EFD4-348D-A66A0C3A6432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8720253" y="2464858"/>
            <a:ext cx="1121219" cy="78017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2D33B2A-89D0-1F8D-5104-E2EE45D88587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7181386" y="4715918"/>
            <a:ext cx="3475463" cy="168692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6DC325B-9DD6-B15F-5B0F-0CF456B63A32}"/>
              </a:ext>
            </a:extLst>
          </p:cNvPr>
          <p:cNvSpPr txBox="1"/>
          <p:nvPr/>
        </p:nvSpPr>
        <p:spPr>
          <a:xfrm>
            <a:off x="9841472" y="2280192"/>
            <a:ext cx="1121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DAMP</a:t>
            </a:r>
            <a:endParaRPr lang="ko-KR" altLang="en-US" dirty="0"/>
          </a:p>
        </p:txBody>
      </p:sp>
      <p:sp>
        <p:nvSpPr>
          <p:cNvPr id="9" name="bottom-note-bg">
            <a:extLst>
              <a:ext uri="{FF2B5EF4-FFF2-40B4-BE49-F238E27FC236}">
                <a16:creationId xmlns:a16="http://schemas.microsoft.com/office/drawing/2014/main" id="{5A4AECB8-DB87-ECD4-3480-C973DE4DA0DC}"/>
              </a:ext>
            </a:extLst>
          </p:cNvPr>
          <p:cNvSpPr>
            <a:spLocks noGrp="1"/>
          </p:cNvSpPr>
          <p:nvPr/>
        </p:nvSpPr>
        <p:spPr>
          <a:xfrm>
            <a:off x="11096625" y="3794536"/>
            <a:ext cx="5919289" cy="1694356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3810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r>
              <a:rPr lang="en-US" altLang="ko-KR" sz="2500" dirty="0">
                <a:solidFill>
                  <a:srgbClr val="FF0000"/>
                </a:solidFill>
                <a:latin typeface="+mj-ea"/>
                <a:ea typeface="+mj-ea"/>
              </a:rPr>
              <a:t>Fever, Hypothermia,</a:t>
            </a:r>
          </a:p>
          <a:p>
            <a:pPr algn="ctr">
              <a:defRPr/>
            </a:pPr>
            <a:r>
              <a:rPr lang="en-US" altLang="ko-KR" sz="2500" dirty="0">
                <a:solidFill>
                  <a:srgbClr val="FF0000"/>
                </a:solidFill>
                <a:latin typeface="+mj-ea"/>
                <a:ea typeface="+mj-ea"/>
              </a:rPr>
              <a:t>Tachycardia, Tachypnea,</a:t>
            </a:r>
            <a:r>
              <a:rPr lang="ko-KR" altLang="en-US" sz="25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500" dirty="0">
                <a:solidFill>
                  <a:srgbClr val="FF0000"/>
                </a:solidFill>
                <a:latin typeface="+mj-ea"/>
                <a:ea typeface="+mj-ea"/>
              </a:rPr>
              <a:t>Leukocyte change</a:t>
            </a:r>
            <a:r>
              <a:rPr lang="ko-KR" altLang="en-US" sz="25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발생 </a:t>
            </a:r>
            <a:r>
              <a:rPr lang="en-US" altLang="ko-KR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!!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A8FA9-A24E-3F55-4A88-981114F55C3F}"/>
              </a:ext>
            </a:extLst>
          </p:cNvPr>
          <p:cNvSpPr txBox="1"/>
          <p:nvPr/>
        </p:nvSpPr>
        <p:spPr>
          <a:xfrm>
            <a:off x="609367" y="9825335"/>
            <a:ext cx="90252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Cell Press, DAMPs and DAMP-sensing receptors in inflammation and diseases, 2024</a:t>
            </a:r>
          </a:p>
        </p:txBody>
      </p:sp>
    </p:spTree>
    <p:extLst>
      <p:ext uri="{BB962C8B-B14F-4D97-AF65-F5344CB8AC3E}">
        <p14:creationId xmlns:p14="http://schemas.microsoft.com/office/powerpoint/2010/main" val="2504973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410AC-69EE-D8A9-9555-E415FC4ED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76390DE4-5F0D-4453-F4F8-EE40344221B9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52D2CA6E-5521-C44B-FFAD-824A7112F5C7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A43ADD64-ED28-0E38-9769-A2A5BCE1D605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21A7CCBE-64E4-A6EB-950F-14280FEE12C8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49BAEA9D-118A-9A75-55C3-37102713F193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40DFEE70-3849-B14C-9126-33FA1C1F5360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Pathogenesis of SIRS</a:t>
            </a:r>
            <a:endParaRPr sz="3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531BFEAC-8F25-E015-C3BB-AFCB9458092F}"/>
              </a:ext>
            </a:extLst>
          </p:cNvPr>
          <p:cNvSpPr>
            <a:spLocks noGrp="1"/>
          </p:cNvSpPr>
          <p:nvPr/>
        </p:nvSpPr>
        <p:spPr>
          <a:xfrm>
            <a:off x="914399" y="3561005"/>
            <a:ext cx="16824800" cy="4387316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Pathogenesis</a:t>
            </a:r>
            <a:r>
              <a:rPr lang="ko-KR" altLang="en-US" sz="22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of SIRS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3. Endothelial</a:t>
            </a:r>
            <a:r>
              <a:rPr lang="ko-KR" altLang="en-US" sz="22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activation &amp; dysfunction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AC50F3-0F95-1709-4E2A-E4FBFED38EDB}"/>
              </a:ext>
            </a:extLst>
          </p:cNvPr>
          <p:cNvSpPr txBox="1"/>
          <p:nvPr/>
        </p:nvSpPr>
        <p:spPr>
          <a:xfrm>
            <a:off x="1124233" y="9563100"/>
            <a:ext cx="7480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NATURE review,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Treating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inflammation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by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blocking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interleukin-1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in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a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broad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spectrum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of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diseases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,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2012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1DE473-0506-8944-FDF9-E8AEDDFA19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24233" y="5039641"/>
            <a:ext cx="7480430" cy="45234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5664E6D-8D1E-0FD0-FE3C-5C4DBC67A771}"/>
              </a:ext>
            </a:extLst>
          </p:cNvPr>
          <p:cNvSpPr txBox="1"/>
          <p:nvPr/>
        </p:nvSpPr>
        <p:spPr>
          <a:xfrm>
            <a:off x="9144000" y="5525200"/>
            <a:ext cx="9144000" cy="2059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Leaky endothelial cells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   + Vascular permeability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   + Adhesion molecules(ICAM1, VCAM1</a:t>
            </a:r>
            <a:r>
              <a:rPr lang="ko-KR" altLang="en-US" sz="2200" dirty="0">
                <a:latin typeface="+mj-ea"/>
                <a:ea typeface="+mj-ea"/>
              </a:rPr>
              <a:t>의 발현 증가</a:t>
            </a:r>
            <a:r>
              <a:rPr lang="en-US" altLang="ko-KR" sz="2200" dirty="0"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-&gt; Loss of barrier integrity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DE76912-2B40-5C05-F695-A870032D5FF1}"/>
              </a:ext>
            </a:extLst>
          </p:cNvPr>
          <p:cNvSpPr/>
          <p:nvPr/>
        </p:nvSpPr>
        <p:spPr>
          <a:xfrm>
            <a:off x="3543188" y="8648902"/>
            <a:ext cx="694275" cy="4011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2532443-A2F9-0825-E869-031592D957C6}"/>
              </a:ext>
            </a:extLst>
          </p:cNvPr>
          <p:cNvSpPr/>
          <p:nvPr/>
        </p:nvSpPr>
        <p:spPr>
          <a:xfrm>
            <a:off x="6384892" y="7652360"/>
            <a:ext cx="787202" cy="5919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FDC3FAB-8EA4-E783-A95F-9F6F365FA1AB}"/>
              </a:ext>
            </a:extLst>
          </p:cNvPr>
          <p:cNvSpPr/>
          <p:nvPr/>
        </p:nvSpPr>
        <p:spPr>
          <a:xfrm>
            <a:off x="2390663" y="7773837"/>
            <a:ext cx="952612" cy="4704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1" name="bottom-note-bg">
            <a:extLst>
              <a:ext uri="{FF2B5EF4-FFF2-40B4-BE49-F238E27FC236}">
                <a16:creationId xmlns:a16="http://schemas.microsoft.com/office/drawing/2014/main" id="{8FE2D4E1-7F12-168E-C870-B0CDB2976FB9}"/>
              </a:ext>
            </a:extLst>
          </p:cNvPr>
          <p:cNvSpPr>
            <a:spLocks noGrp="1"/>
          </p:cNvSpPr>
          <p:nvPr/>
        </p:nvSpPr>
        <p:spPr>
          <a:xfrm>
            <a:off x="9144000" y="8515141"/>
            <a:ext cx="8439082" cy="713602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98B3AE-3847-A0E6-6E22-EF63991F49B5}"/>
              </a:ext>
            </a:extLst>
          </p:cNvPr>
          <p:cNvSpPr txBox="1"/>
          <p:nvPr/>
        </p:nvSpPr>
        <p:spPr>
          <a:xfrm>
            <a:off x="9326799" y="8577267"/>
            <a:ext cx="8002196" cy="535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-&gt; </a:t>
            </a: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Edema, Hypotension, Tissue hypoxia</a:t>
            </a:r>
            <a:r>
              <a:rPr lang="en-US" altLang="ko-KR" sz="220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2200" dirty="0">
                <a:solidFill>
                  <a:srgbClr val="000000"/>
                </a:solidFill>
                <a:latin typeface="+mj-ea"/>
                <a:ea typeface="+mj-ea"/>
              </a:rPr>
              <a:t>발생</a:t>
            </a:r>
          </a:p>
        </p:txBody>
      </p:sp>
    </p:spTree>
    <p:extLst>
      <p:ext uri="{BB962C8B-B14F-4D97-AF65-F5344CB8AC3E}">
        <p14:creationId xmlns:p14="http://schemas.microsoft.com/office/powerpoint/2010/main" val="683914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ED5B0-BC01-74C6-2A72-28E28089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92EEF79-DC51-5222-D162-EC33529EF3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73781" y="5164565"/>
            <a:ext cx="4575218" cy="4300704"/>
          </a:xfrm>
          <a:prstGeom prst="rect">
            <a:avLst/>
          </a:prstGeom>
        </p:spPr>
      </p:pic>
      <p:sp>
        <p:nvSpPr>
          <p:cNvPr id="2" name="wash-a">
            <a:extLst>
              <a:ext uri="{FF2B5EF4-FFF2-40B4-BE49-F238E27FC236}">
                <a16:creationId xmlns:a16="http://schemas.microsoft.com/office/drawing/2014/main" id="{85A6028F-546B-6158-093F-3C322A0A4A87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E58DD5EC-C3AB-0F4A-9778-F2647C9ED013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83AD3355-E9C5-76EA-8945-F7000EC75BE8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0BBB7618-5A16-B7C3-9399-BB8474C575FB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C243FB10-4A9E-830B-615B-4F8044769177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73CFADEE-7BAE-2AF6-FE59-DC550DBE5023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Pathogenesis of SIRS</a:t>
            </a:r>
            <a:endParaRPr sz="3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D1353AFB-8324-47A7-B7BA-7490598ECC66}"/>
              </a:ext>
            </a:extLst>
          </p:cNvPr>
          <p:cNvSpPr>
            <a:spLocks noGrp="1"/>
          </p:cNvSpPr>
          <p:nvPr/>
        </p:nvSpPr>
        <p:spPr>
          <a:xfrm>
            <a:off x="914399" y="3561005"/>
            <a:ext cx="16824800" cy="4387316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Pathogenesis</a:t>
            </a:r>
            <a:r>
              <a:rPr lang="ko-KR" altLang="en-US" sz="22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of SIRS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4. Coagulation-inflammation coupling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8FC16F-04F9-DF56-B547-A5CA1E72B8F1}"/>
              </a:ext>
            </a:extLst>
          </p:cNvPr>
          <p:cNvSpPr txBox="1"/>
          <p:nvPr/>
        </p:nvSpPr>
        <p:spPr>
          <a:xfrm>
            <a:off x="12379296" y="5754663"/>
            <a:ext cx="5569705" cy="2059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200" dirty="0" err="1">
                <a:latin typeface="+mj-ea"/>
                <a:ea typeface="+mj-ea"/>
              </a:rPr>
              <a:t>염증성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사이토카인</a:t>
            </a:r>
            <a:r>
              <a:rPr lang="en-US" altLang="ko-KR" sz="2200" dirty="0">
                <a:latin typeface="+mj-ea"/>
                <a:ea typeface="+mj-ea"/>
              </a:rPr>
              <a:t>(TNF-α, IL-1β, IL-6)이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Tissue Factor</a:t>
            </a:r>
            <a:r>
              <a:rPr lang="ko-KR" altLang="en-US" sz="2200" dirty="0">
                <a:latin typeface="+mj-ea"/>
                <a:ea typeface="+mj-ea"/>
              </a:rPr>
              <a:t>등 </a:t>
            </a:r>
            <a:r>
              <a:rPr lang="en-US" altLang="ko-KR" sz="2200" dirty="0">
                <a:latin typeface="+mj-ea"/>
                <a:ea typeface="+mj-ea"/>
              </a:rPr>
              <a:t>coagulation related factor</a:t>
            </a:r>
            <a:r>
              <a:rPr lang="ko-KR" altLang="en-US" sz="2200" dirty="0">
                <a:latin typeface="+mj-ea"/>
                <a:ea typeface="+mj-ea"/>
              </a:rPr>
              <a:t>들의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발현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ko-KR" altLang="en-US" sz="2200" dirty="0">
                <a:latin typeface="+mj-ea"/>
                <a:ea typeface="+mj-ea"/>
              </a:rPr>
              <a:t>증가시킴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-&gt; </a:t>
            </a:r>
            <a:r>
              <a:rPr lang="en-US" altLang="ko-KR" sz="2200" dirty="0" err="1">
                <a:latin typeface="+mj-ea"/>
                <a:ea typeface="+mj-ea"/>
              </a:rPr>
              <a:t>응고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연쇄반응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ko-KR" altLang="en-US" sz="2200" dirty="0">
                <a:latin typeface="+mj-ea"/>
                <a:ea typeface="+mj-ea"/>
              </a:rPr>
              <a:t>활성화됨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21" name="bottom-note-bg">
            <a:extLst>
              <a:ext uri="{FF2B5EF4-FFF2-40B4-BE49-F238E27FC236}">
                <a16:creationId xmlns:a16="http://schemas.microsoft.com/office/drawing/2014/main" id="{396B2532-C887-EBA2-B9F2-E53B27E32674}"/>
              </a:ext>
            </a:extLst>
          </p:cNvPr>
          <p:cNvSpPr>
            <a:spLocks noGrp="1"/>
          </p:cNvSpPr>
          <p:nvPr/>
        </p:nvSpPr>
        <p:spPr>
          <a:xfrm>
            <a:off x="9938126" y="9135185"/>
            <a:ext cx="7993034" cy="713602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93E44A-37A6-13CA-2080-F52EDDA12C85}"/>
              </a:ext>
            </a:extLst>
          </p:cNvPr>
          <p:cNvSpPr txBox="1"/>
          <p:nvPr/>
        </p:nvSpPr>
        <p:spPr>
          <a:xfrm>
            <a:off x="10120925" y="9197311"/>
            <a:ext cx="7579240" cy="535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-&gt; </a:t>
            </a: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DIC</a:t>
            </a:r>
            <a:r>
              <a:rPr lang="en-US" altLang="ko-KR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 (</a:t>
            </a:r>
            <a:r>
              <a:rPr lang="en-US" altLang="ko-KR" sz="2200" dirty="0">
                <a:latin typeface="+mj-ea"/>
                <a:ea typeface="+mj-ea"/>
              </a:rPr>
              <a:t>Disseminated Intravascular Coagulation)</a:t>
            </a:r>
            <a:r>
              <a:rPr lang="en-US" altLang="ko-KR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발생</a:t>
            </a:r>
            <a:endParaRPr lang="ko-KR" altLang="en-US" sz="22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FDE79E2-9D87-AFB7-23FB-C17B66A81BC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07994" y="5648054"/>
            <a:ext cx="5369357" cy="3058741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2024787-936F-76B6-F275-89163C8B6F48}"/>
              </a:ext>
            </a:extLst>
          </p:cNvPr>
          <p:cNvSpPr/>
          <p:nvPr/>
        </p:nvSpPr>
        <p:spPr>
          <a:xfrm>
            <a:off x="5474967" y="6477000"/>
            <a:ext cx="931082" cy="728546"/>
          </a:xfrm>
          <a:prstGeom prst="rightArrow">
            <a:avLst/>
          </a:prstGeom>
          <a:solidFill>
            <a:srgbClr val="66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8968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C6C0B-E694-6032-7217-1A72B6043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BE7E13D1-5348-F4BA-5A2A-8FE366B9C64F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C093CB3A-EE23-095A-15A9-EA6152B14EE2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27709AC6-B1A0-A525-393B-94DAF81830BA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887722AF-DAAC-CEDE-C41B-70C977CDD378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71DEDBE2-2EE7-56EB-F7BB-D13A53BB8EC3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A5869BCD-9489-B653-C389-56197A5C02D6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Pathogenesis of SIRS</a:t>
            </a:r>
            <a:endParaRPr sz="3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33764753-83E1-4866-4738-9BC31C64C94A}"/>
              </a:ext>
            </a:extLst>
          </p:cNvPr>
          <p:cNvSpPr>
            <a:spLocks noGrp="1"/>
          </p:cNvSpPr>
          <p:nvPr/>
        </p:nvSpPr>
        <p:spPr>
          <a:xfrm>
            <a:off x="914399" y="3337985"/>
            <a:ext cx="16824800" cy="4387316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Pathogenesis</a:t>
            </a:r>
            <a:r>
              <a:rPr lang="ko-KR" altLang="en-US" sz="22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of SIRS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5.</a:t>
            </a:r>
            <a:r>
              <a:rPr lang="ko-KR" altLang="en-US" sz="22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Microvascular failure &amp; Mitochondrial dysfunction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D9A8B-1C00-48C8-929B-CDC88DAC33F4}"/>
              </a:ext>
            </a:extLst>
          </p:cNvPr>
          <p:cNvSpPr txBox="1"/>
          <p:nvPr/>
        </p:nvSpPr>
        <p:spPr>
          <a:xfrm>
            <a:off x="900460" y="8389396"/>
            <a:ext cx="6175974" cy="155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1) </a:t>
            </a:r>
            <a:r>
              <a:rPr lang="en-US" altLang="ko-KR" sz="2200" dirty="0" err="1">
                <a:latin typeface="+mj-ea"/>
                <a:ea typeface="+mj-ea"/>
              </a:rPr>
              <a:t>미세혈관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내피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손상</a:t>
            </a:r>
            <a:r>
              <a:rPr lang="en-US" altLang="ko-KR" sz="2200" dirty="0">
                <a:latin typeface="+mj-ea"/>
                <a:ea typeface="+mj-ea"/>
              </a:rPr>
              <a:t>, </a:t>
            </a:r>
            <a:r>
              <a:rPr lang="en-US" altLang="ko-KR" sz="2200" dirty="0" err="1">
                <a:latin typeface="+mj-ea"/>
                <a:ea typeface="+mj-ea"/>
              </a:rPr>
              <a:t>미세혈전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-&gt; </a:t>
            </a:r>
            <a:r>
              <a:rPr lang="en-US" altLang="ko-KR" sz="2200" dirty="0" err="1">
                <a:latin typeface="+mj-ea"/>
                <a:ea typeface="+mj-ea"/>
              </a:rPr>
              <a:t>조직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관류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감소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=&gt;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Microvascular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failure </a:t>
            </a:r>
            <a:r>
              <a:rPr lang="ko-KR" altLang="en-US" sz="2200" dirty="0">
                <a:latin typeface="+mj-ea"/>
                <a:ea typeface="+mj-ea"/>
              </a:rPr>
              <a:t>발생</a:t>
            </a:r>
            <a:endParaRPr lang="en-US" altLang="ko-KR" sz="2200" dirty="0"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ECFCC5-3EA9-DCE9-8BFC-85F654349C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>
            <a:fillRect/>
          </a:stretch>
        </p:blipFill>
        <p:spPr>
          <a:xfrm>
            <a:off x="1282516" y="4552855"/>
            <a:ext cx="3074181" cy="379662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2EDA271-F362-7BDA-7CD0-3C502CA71B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690" b="13890"/>
          <a:stretch>
            <a:fillRect/>
          </a:stretch>
        </p:blipFill>
        <p:spPr>
          <a:xfrm>
            <a:off x="4517414" y="4403503"/>
            <a:ext cx="7443629" cy="40430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13161A5-66D4-2952-CD26-1077327E13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610"/>
          <a:stretch>
            <a:fillRect/>
          </a:stretch>
        </p:blipFill>
        <p:spPr>
          <a:xfrm>
            <a:off x="11844164" y="4519050"/>
            <a:ext cx="6483772" cy="3259685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6EBC6D6B-C160-FF36-59C5-BCC7C8B7125F}"/>
              </a:ext>
            </a:extLst>
          </p:cNvPr>
          <p:cNvSpPr/>
          <p:nvPr/>
        </p:nvSpPr>
        <p:spPr>
          <a:xfrm>
            <a:off x="11606054" y="5789265"/>
            <a:ext cx="1064957" cy="359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BAD89DE-AF53-80C0-7C26-1BDC17E8A5BD}"/>
              </a:ext>
            </a:extLst>
          </p:cNvPr>
          <p:cNvSpPr/>
          <p:nvPr/>
        </p:nvSpPr>
        <p:spPr>
          <a:xfrm>
            <a:off x="8386707" y="6253980"/>
            <a:ext cx="519168" cy="9661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184567-400C-8A94-E245-B7563247F976}"/>
              </a:ext>
            </a:extLst>
          </p:cNvPr>
          <p:cNvSpPr txBox="1"/>
          <p:nvPr/>
        </p:nvSpPr>
        <p:spPr>
          <a:xfrm>
            <a:off x="5962558" y="8349480"/>
            <a:ext cx="6483772" cy="155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2) </a:t>
            </a:r>
            <a:r>
              <a:rPr lang="ko-KR" altLang="en-US" sz="2200" dirty="0">
                <a:latin typeface="+mj-ea"/>
                <a:ea typeface="+mj-ea"/>
              </a:rPr>
              <a:t>순환 부전으로 산소 부족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-&gt; </a:t>
            </a:r>
            <a:r>
              <a:rPr lang="ko-KR" altLang="en-US" sz="2200" dirty="0">
                <a:latin typeface="+mj-ea"/>
                <a:ea typeface="+mj-ea"/>
              </a:rPr>
              <a:t>미토콘드리아의 </a:t>
            </a:r>
            <a:r>
              <a:rPr lang="en-US" altLang="ko-KR" sz="2200" dirty="0">
                <a:latin typeface="+mj-ea"/>
                <a:ea typeface="+mj-ea"/>
              </a:rPr>
              <a:t>Electron transport system</a:t>
            </a:r>
            <a:r>
              <a:rPr lang="ko-KR" altLang="en-US" sz="2200" dirty="0">
                <a:latin typeface="+mj-ea"/>
                <a:ea typeface="+mj-ea"/>
              </a:rPr>
              <a:t>이 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    </a:t>
            </a:r>
            <a:r>
              <a:rPr lang="ko-KR" altLang="en-US" sz="2200" dirty="0">
                <a:latin typeface="+mj-ea"/>
                <a:ea typeface="+mj-ea"/>
              </a:rPr>
              <a:t>제대로 작동하지 못함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5FD2DB-E624-DF65-5E60-E9EBA2F59088}"/>
              </a:ext>
            </a:extLst>
          </p:cNvPr>
          <p:cNvSpPr txBox="1"/>
          <p:nvPr/>
        </p:nvSpPr>
        <p:spPr>
          <a:xfrm>
            <a:off x="12671011" y="8341026"/>
            <a:ext cx="4235250" cy="535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3) </a:t>
            </a:r>
            <a:r>
              <a:rPr lang="ko-KR" altLang="en-US" sz="2200" dirty="0">
                <a:latin typeface="+mj-ea"/>
                <a:ea typeface="+mj-ea"/>
              </a:rPr>
              <a:t>혐기성 대사로</a:t>
            </a:r>
            <a:r>
              <a:rPr lang="en-US" altLang="ko-KR" sz="2200" dirty="0">
                <a:latin typeface="+mj-ea"/>
                <a:ea typeface="+mj-ea"/>
              </a:rPr>
              <a:t> Lactate</a:t>
            </a:r>
            <a:r>
              <a:rPr lang="ko-KR" altLang="en-US" sz="2200" dirty="0">
                <a:latin typeface="+mj-ea"/>
                <a:ea typeface="+mj-ea"/>
              </a:rPr>
              <a:t> 증가</a:t>
            </a:r>
            <a:endParaRPr lang="en-US" altLang="ko-KR" sz="2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86757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144B-54D9-F81F-10CF-C98012A73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9C2FF523-4561-9283-CA43-0CB90CEA3427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596A1863-BBE8-C078-A832-9671B375D1E2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D8CED02A-2ED5-C2E7-5E23-B282520B1CFC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D6D2703E-1F93-C7F0-F121-560B571E7CC6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E182EA30-75EF-08C1-C306-4E574461E571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F0560AA8-3F68-3BF6-2916-B836C0527BBA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Pathogenesis of SIRS</a:t>
            </a:r>
            <a:endParaRPr sz="3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95DBB092-7C37-7C45-9712-56FB0BCE9DF0}"/>
              </a:ext>
            </a:extLst>
          </p:cNvPr>
          <p:cNvSpPr>
            <a:spLocks noGrp="1"/>
          </p:cNvSpPr>
          <p:nvPr/>
        </p:nvSpPr>
        <p:spPr>
          <a:xfrm>
            <a:off x="914399" y="3337985"/>
            <a:ext cx="16824800" cy="4387316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Pathogenesis</a:t>
            </a:r>
            <a:r>
              <a:rPr lang="ko-KR" altLang="en-US" sz="22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of SIRS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5.</a:t>
            </a:r>
            <a:r>
              <a:rPr lang="ko-KR" altLang="en-US" sz="22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Microvascular failure &amp; Mitochondrial dysfunction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CFAB05-6606-CD8A-93BE-CAB3C4BBDD9B}"/>
              </a:ext>
            </a:extLst>
          </p:cNvPr>
          <p:cNvSpPr txBox="1"/>
          <p:nvPr/>
        </p:nvSpPr>
        <p:spPr>
          <a:xfrm>
            <a:off x="900460" y="8389396"/>
            <a:ext cx="6175974" cy="155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1) </a:t>
            </a:r>
            <a:r>
              <a:rPr lang="en-US" altLang="ko-KR" sz="2200" dirty="0" err="1">
                <a:latin typeface="+mj-ea"/>
                <a:ea typeface="+mj-ea"/>
              </a:rPr>
              <a:t>미세혈관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내피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손상</a:t>
            </a:r>
            <a:r>
              <a:rPr lang="en-US" altLang="ko-KR" sz="2200" dirty="0">
                <a:latin typeface="+mj-ea"/>
                <a:ea typeface="+mj-ea"/>
              </a:rPr>
              <a:t>, </a:t>
            </a:r>
            <a:r>
              <a:rPr lang="en-US" altLang="ko-KR" sz="2200" dirty="0" err="1">
                <a:latin typeface="+mj-ea"/>
                <a:ea typeface="+mj-ea"/>
              </a:rPr>
              <a:t>미세혈전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-&gt; </a:t>
            </a:r>
            <a:r>
              <a:rPr lang="en-US" altLang="ko-KR" sz="2200" dirty="0" err="1">
                <a:latin typeface="+mj-ea"/>
                <a:ea typeface="+mj-ea"/>
              </a:rPr>
              <a:t>조직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관류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감소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=&gt;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Microvascular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failure </a:t>
            </a:r>
            <a:r>
              <a:rPr lang="ko-KR" altLang="en-US" sz="2200" dirty="0">
                <a:latin typeface="+mj-ea"/>
                <a:ea typeface="+mj-ea"/>
              </a:rPr>
              <a:t>발생</a:t>
            </a:r>
            <a:endParaRPr lang="en-US" altLang="ko-KR" sz="2200" dirty="0"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2A22392-517F-ECA9-6909-C595E572BC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>
            <a:fillRect/>
          </a:stretch>
        </p:blipFill>
        <p:spPr>
          <a:xfrm>
            <a:off x="1282516" y="4552855"/>
            <a:ext cx="3074181" cy="379662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B8E74A6-F4C9-113D-4ED5-4419540B55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690" b="13890"/>
          <a:stretch>
            <a:fillRect/>
          </a:stretch>
        </p:blipFill>
        <p:spPr>
          <a:xfrm>
            <a:off x="4517414" y="4403503"/>
            <a:ext cx="7443629" cy="40430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C1256CD-E405-1257-D05E-B4620342A4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610"/>
          <a:stretch>
            <a:fillRect/>
          </a:stretch>
        </p:blipFill>
        <p:spPr>
          <a:xfrm>
            <a:off x="11844164" y="4519050"/>
            <a:ext cx="6483772" cy="3259685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F501EA6B-C5BD-2EC5-3224-4955984AEB4F}"/>
              </a:ext>
            </a:extLst>
          </p:cNvPr>
          <p:cNvSpPr/>
          <p:nvPr/>
        </p:nvSpPr>
        <p:spPr>
          <a:xfrm>
            <a:off x="11606054" y="5789265"/>
            <a:ext cx="1064957" cy="359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6AB358C-9361-8738-562C-24287ACF3FDC}"/>
              </a:ext>
            </a:extLst>
          </p:cNvPr>
          <p:cNvSpPr/>
          <p:nvPr/>
        </p:nvSpPr>
        <p:spPr>
          <a:xfrm>
            <a:off x="8386707" y="6253980"/>
            <a:ext cx="519168" cy="9661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E8AE83-BE01-BBDE-B382-AB8871C7F91C}"/>
              </a:ext>
            </a:extLst>
          </p:cNvPr>
          <p:cNvSpPr txBox="1"/>
          <p:nvPr/>
        </p:nvSpPr>
        <p:spPr>
          <a:xfrm>
            <a:off x="5962558" y="8349480"/>
            <a:ext cx="6483772" cy="155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2) </a:t>
            </a:r>
            <a:r>
              <a:rPr lang="ko-KR" altLang="en-US" sz="2200" dirty="0">
                <a:latin typeface="+mj-ea"/>
                <a:ea typeface="+mj-ea"/>
              </a:rPr>
              <a:t>순환 부전으로 산소 부족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-&gt; </a:t>
            </a:r>
            <a:r>
              <a:rPr lang="ko-KR" altLang="en-US" sz="2200" dirty="0">
                <a:latin typeface="+mj-ea"/>
                <a:ea typeface="+mj-ea"/>
              </a:rPr>
              <a:t>미토콘드리아의 </a:t>
            </a:r>
            <a:r>
              <a:rPr lang="en-US" altLang="ko-KR" sz="2200" dirty="0">
                <a:latin typeface="+mj-ea"/>
                <a:ea typeface="+mj-ea"/>
              </a:rPr>
              <a:t>Electron transport system</a:t>
            </a:r>
            <a:r>
              <a:rPr lang="ko-KR" altLang="en-US" sz="2200" dirty="0">
                <a:latin typeface="+mj-ea"/>
                <a:ea typeface="+mj-ea"/>
              </a:rPr>
              <a:t>이 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    </a:t>
            </a:r>
            <a:r>
              <a:rPr lang="ko-KR" altLang="en-US" sz="2200" dirty="0">
                <a:latin typeface="+mj-ea"/>
                <a:ea typeface="+mj-ea"/>
              </a:rPr>
              <a:t>제대로 작동하지 못함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47EF11-148F-C392-11D6-E686116E6508}"/>
              </a:ext>
            </a:extLst>
          </p:cNvPr>
          <p:cNvSpPr txBox="1"/>
          <p:nvPr/>
        </p:nvSpPr>
        <p:spPr>
          <a:xfrm>
            <a:off x="12671011" y="8341026"/>
            <a:ext cx="4235250" cy="535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latin typeface="+mj-ea"/>
                <a:ea typeface="+mj-ea"/>
              </a:rPr>
              <a:t>3) </a:t>
            </a:r>
            <a:r>
              <a:rPr lang="ko-KR" altLang="en-US" sz="2200" dirty="0">
                <a:latin typeface="+mj-ea"/>
                <a:ea typeface="+mj-ea"/>
              </a:rPr>
              <a:t>혐기성 대사로</a:t>
            </a:r>
            <a:r>
              <a:rPr lang="en-US" altLang="ko-KR" sz="2200" dirty="0">
                <a:latin typeface="+mj-ea"/>
                <a:ea typeface="+mj-ea"/>
              </a:rPr>
              <a:t> Lactate</a:t>
            </a:r>
            <a:r>
              <a:rPr lang="ko-KR" altLang="en-US" sz="2200" dirty="0">
                <a:latin typeface="+mj-ea"/>
                <a:ea typeface="+mj-ea"/>
              </a:rPr>
              <a:t> 증가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21" name="bottom-note-bg">
            <a:extLst>
              <a:ext uri="{FF2B5EF4-FFF2-40B4-BE49-F238E27FC236}">
                <a16:creationId xmlns:a16="http://schemas.microsoft.com/office/drawing/2014/main" id="{7A2FB347-8277-67F5-85CB-7D4FE6698C1C}"/>
              </a:ext>
            </a:extLst>
          </p:cNvPr>
          <p:cNvSpPr>
            <a:spLocks noGrp="1"/>
          </p:cNvSpPr>
          <p:nvPr/>
        </p:nvSpPr>
        <p:spPr>
          <a:xfrm>
            <a:off x="4005602" y="5655025"/>
            <a:ext cx="10276796" cy="1456122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24F913-A4F4-093B-0F93-B15D165A9DAA}"/>
              </a:ext>
            </a:extLst>
          </p:cNvPr>
          <p:cNvSpPr txBox="1"/>
          <p:nvPr/>
        </p:nvSpPr>
        <p:spPr>
          <a:xfrm>
            <a:off x="4120207" y="6014652"/>
            <a:ext cx="10008727" cy="5963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2500" dirty="0">
                <a:latin typeface="+mj-ea"/>
                <a:ea typeface="+mj-ea"/>
              </a:rPr>
              <a:t>-&gt; </a:t>
            </a:r>
            <a:r>
              <a:rPr lang="ko-KR" altLang="en-US" sz="2500" dirty="0">
                <a:latin typeface="+mj-ea"/>
                <a:ea typeface="+mj-ea"/>
              </a:rPr>
              <a:t>세포 기능 장애 및 장기 부전 </a:t>
            </a:r>
            <a:r>
              <a:rPr lang="en-US" altLang="ko-KR" sz="2500" dirty="0">
                <a:latin typeface="+mj-ea"/>
                <a:ea typeface="+mj-ea"/>
              </a:rPr>
              <a:t>=&gt; </a:t>
            </a:r>
            <a:r>
              <a:rPr lang="en-US" altLang="ko-KR" sz="2500" dirty="0">
                <a:solidFill>
                  <a:srgbClr val="FF0000"/>
                </a:solidFill>
                <a:latin typeface="+mj-ea"/>
                <a:ea typeface="+mj-ea"/>
              </a:rPr>
              <a:t>Organ dysfunction</a:t>
            </a:r>
            <a:endParaRPr lang="ko-KR" altLang="en-US" sz="25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48198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F592-019E-7DA0-5D94-104617A5C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C54C8ACF-92B8-0A7A-7B40-911B375D96D7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C6D1B92B-A655-2183-6AFB-A2CAE1B78E19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76DD90D5-7666-B987-83DC-4F63A6AF3E3A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AA9A26B6-7535-E717-EE51-5934AE2DEFD4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F2061731-C017-1C9C-D76D-F7AD51BC168C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61B6AB84-9A8F-71F7-4B33-FCC6298E7886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/>
              <a:t>Pathogenesis of SIRS</a:t>
            </a:r>
            <a:endParaRPr sz="3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99DDF4A2-D080-CB17-EFA5-3B4D641E8A0C}"/>
              </a:ext>
            </a:extLst>
          </p:cNvPr>
          <p:cNvSpPr>
            <a:spLocks noGrp="1"/>
          </p:cNvSpPr>
          <p:nvPr/>
        </p:nvSpPr>
        <p:spPr>
          <a:xfrm>
            <a:off x="914399" y="3561005"/>
            <a:ext cx="16824800" cy="4387316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Pathogenesis</a:t>
            </a:r>
            <a:r>
              <a:rPr lang="ko-KR" altLang="en-US" sz="22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en-US" altLang="ko-KR" sz="2200" dirty="0">
                <a:solidFill>
                  <a:schemeClr val="dk1"/>
                </a:solidFill>
                <a:latin typeface="+mj-ea"/>
                <a:ea typeface="+mj-ea"/>
              </a:rPr>
              <a:t>of SIRS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    </a:t>
            </a:r>
            <a:r>
              <a:rPr lang="en-US" altLang="ko-KR" sz="2200" dirty="0">
                <a:latin typeface="+mj-ea"/>
                <a:ea typeface="+mj-ea"/>
              </a:rPr>
              <a:t>6. Counter-regulatory response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5A74F9E-078A-BCD5-7B97-8C215815E8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325100" y="1028140"/>
            <a:ext cx="6155816" cy="43650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B9A768-DC58-3E54-66E7-F08E492119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25100" y="6157244"/>
            <a:ext cx="6713376" cy="40951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57A8F25-AE09-002F-D47E-7CBB2EC014A7}"/>
              </a:ext>
            </a:extLst>
          </p:cNvPr>
          <p:cNvSpPr txBox="1"/>
          <p:nvPr/>
        </p:nvSpPr>
        <p:spPr>
          <a:xfrm>
            <a:off x="1828800" y="5497427"/>
            <a:ext cx="7097636" cy="307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CCC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IL-10과 </a:t>
            </a:r>
            <a:r>
              <a:rPr lang="en-US" altLang="ko-KR" sz="2200" dirty="0" err="1">
                <a:latin typeface="+mj-ea"/>
                <a:ea typeface="+mj-ea"/>
              </a:rPr>
              <a:t>같은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항염증성</a:t>
            </a:r>
            <a:r>
              <a:rPr lang="en-US" altLang="ko-KR" sz="2200" dirty="0">
                <a:latin typeface="+mj-ea"/>
                <a:ea typeface="+mj-ea"/>
              </a:rPr>
              <a:t> cytokine </a:t>
            </a:r>
            <a:r>
              <a:rPr lang="ko-KR" altLang="en-US" sz="2200" dirty="0">
                <a:latin typeface="+mj-ea"/>
                <a:ea typeface="+mj-ea"/>
              </a:rPr>
              <a:t>증가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</a:p>
          <a:p>
            <a:pPr>
              <a:lnSpc>
                <a:spcPct val="150000"/>
              </a:lnSpc>
              <a:buClr>
                <a:srgbClr val="CCCCFF"/>
              </a:buClr>
              <a:defRPr/>
            </a:pPr>
            <a:r>
              <a:rPr lang="en-US" altLang="ko-KR" sz="2200" dirty="0">
                <a:latin typeface="+mj-ea"/>
                <a:ea typeface="+mj-ea"/>
              </a:rPr>
              <a:t>    + T cell </a:t>
            </a:r>
            <a:r>
              <a:rPr lang="en-US" altLang="ko-KR" sz="2200" dirty="0" err="1">
                <a:latin typeface="+mj-ea"/>
                <a:ea typeface="+mj-ea"/>
              </a:rPr>
              <a:t>apoptosis와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면역세포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기능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저하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발생</a:t>
            </a:r>
            <a:endParaRPr lang="en-US" altLang="ko-KR" sz="2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  <a:buClr>
                <a:srgbClr val="CCCCFF"/>
              </a:buClr>
              <a:defRPr/>
            </a:pPr>
            <a:r>
              <a:rPr lang="en-US" altLang="ko-KR" sz="2200" dirty="0">
                <a:latin typeface="+mj-ea"/>
                <a:ea typeface="+mj-ea"/>
              </a:rPr>
              <a:t>     -&gt; </a:t>
            </a:r>
            <a:r>
              <a:rPr lang="en-US" altLang="ko-KR" sz="2200" dirty="0" err="1">
                <a:latin typeface="+mj-ea"/>
                <a:ea typeface="+mj-ea"/>
              </a:rPr>
              <a:t>과도한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염증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반응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억제</a:t>
            </a:r>
            <a:endParaRPr lang="en-US" altLang="ko-KR" sz="22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CCCFF"/>
              </a:buClr>
              <a:buFont typeface="Wingdings" panose="05000000000000000000" pitchFamily="2" charset="2"/>
              <a:buChar char="§"/>
              <a:defRPr/>
            </a:pPr>
            <a:endParaRPr lang="en-US" altLang="ko-KR" sz="22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CCC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But</a:t>
            </a:r>
            <a:r>
              <a:rPr lang="ko-KR" altLang="en-US" sz="2200" dirty="0">
                <a:latin typeface="+mj-ea"/>
                <a:ea typeface="+mj-ea"/>
              </a:rPr>
              <a:t> 이런 면역억제 상태는 </a:t>
            </a:r>
            <a:r>
              <a:rPr lang="en-US" altLang="ko-KR" sz="2200" dirty="0">
                <a:latin typeface="+mj-ea"/>
                <a:ea typeface="+mj-ea"/>
              </a:rPr>
              <a:t>2차 </a:t>
            </a:r>
            <a:r>
              <a:rPr lang="en-US" altLang="ko-KR" sz="2200" dirty="0" err="1">
                <a:latin typeface="+mj-ea"/>
                <a:ea typeface="+mj-ea"/>
              </a:rPr>
              <a:t>감염</a:t>
            </a:r>
            <a:r>
              <a:rPr lang="en-US" altLang="ko-KR" sz="2200" dirty="0">
                <a:latin typeface="+mj-ea"/>
                <a:ea typeface="+mj-ea"/>
              </a:rPr>
              <a:t> 및 </a:t>
            </a:r>
            <a:r>
              <a:rPr lang="en-US" altLang="ko-KR" sz="2200" dirty="0" err="1">
                <a:latin typeface="+mj-ea"/>
                <a:ea typeface="+mj-ea"/>
              </a:rPr>
              <a:t>패혈증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발생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위험을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en-US" altLang="ko-KR" sz="2200" dirty="0" err="1">
                <a:latin typeface="+mj-ea"/>
                <a:ea typeface="+mj-ea"/>
              </a:rPr>
              <a:t>증가시킬</a:t>
            </a:r>
            <a:r>
              <a:rPr lang="en-US" altLang="ko-KR" sz="2200" dirty="0">
                <a:latin typeface="+mj-ea"/>
                <a:ea typeface="+mj-ea"/>
              </a:rPr>
              <a:t> </a:t>
            </a:r>
            <a:r>
              <a:rPr lang="ko-KR" altLang="en-US" sz="2200" dirty="0">
                <a:latin typeface="+mj-ea"/>
                <a:ea typeface="+mj-ea"/>
              </a:rPr>
              <a:t>수 있음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11" name="십자형 10">
            <a:extLst>
              <a:ext uri="{FF2B5EF4-FFF2-40B4-BE49-F238E27FC236}">
                <a16:creationId xmlns:a16="http://schemas.microsoft.com/office/drawing/2014/main" id="{5C923A45-4662-BE16-0D9E-E7AF0AD834D8}"/>
              </a:ext>
            </a:extLst>
          </p:cNvPr>
          <p:cNvSpPr/>
          <p:nvPr/>
        </p:nvSpPr>
        <p:spPr>
          <a:xfrm>
            <a:off x="12921340" y="5419760"/>
            <a:ext cx="760448" cy="710897"/>
          </a:xfrm>
          <a:prstGeom prst="plus">
            <a:avLst>
              <a:gd name="adj" fmla="val 34473"/>
            </a:avLst>
          </a:prstGeom>
          <a:solidFill>
            <a:srgbClr val="6666F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922D7DE-C51E-40BD-DC69-59A08910020E}"/>
              </a:ext>
            </a:extLst>
          </p:cNvPr>
          <p:cNvSpPr/>
          <p:nvPr/>
        </p:nvSpPr>
        <p:spPr>
          <a:xfrm>
            <a:off x="12736636" y="2838971"/>
            <a:ext cx="1113180" cy="6799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0811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C6E5C-7E6E-39B4-308E-FFE5508C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7DDDF40A-7A4F-165B-1306-E8B61FE13C5D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A09F055C-1779-DBFF-55EB-9466AC5CDF15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BCDB679C-5C1B-6A17-9747-8A67F562B37A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627A195E-F37B-7BA1-BF7E-E03A28A1D27D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3FC48A12-EE43-5236-22AA-37E11DA93921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5082ACEB-40AA-F7EB-B8C2-DEA7CBFCA2B5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altLang="ko-KR" sz="5000" dirty="0">
                <a:solidFill>
                  <a:srgbClr val="FF0000"/>
                </a:solidFill>
              </a:rPr>
              <a:t>MODS</a:t>
            </a:r>
            <a:r>
              <a:rPr lang="en-US" altLang="ko-KR" sz="5400" dirty="0">
                <a:solidFill>
                  <a:srgbClr val="FF0000"/>
                </a:solidFill>
              </a:rPr>
              <a:t> </a:t>
            </a:r>
            <a:r>
              <a:rPr lang="en-US" altLang="ko-KR" sz="4000" dirty="0"/>
              <a:t>(Multi Organ Dysfunction Syndrome</a:t>
            </a:r>
            <a:r>
              <a:rPr lang="en-US" altLang="ko-KR" sz="3000" dirty="0"/>
              <a:t>)</a:t>
            </a:r>
            <a:endParaRPr sz="3000" dirty="0"/>
          </a:p>
        </p:txBody>
      </p:sp>
      <p:sp>
        <p:nvSpPr>
          <p:cNvPr id="15" name="bullet-text-3">
            <a:extLst>
              <a:ext uri="{FF2B5EF4-FFF2-40B4-BE49-F238E27FC236}">
                <a16:creationId xmlns:a16="http://schemas.microsoft.com/office/drawing/2014/main" id="{6126F970-13FB-462A-180B-FF3222035521}"/>
              </a:ext>
            </a:extLst>
          </p:cNvPr>
          <p:cNvSpPr>
            <a:spLocks noGrp="1"/>
          </p:cNvSpPr>
          <p:nvPr/>
        </p:nvSpPr>
        <p:spPr>
          <a:xfrm>
            <a:off x="914399" y="3561005"/>
            <a:ext cx="16824800" cy="4387316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400" dirty="0">
                <a:latin typeface="+mj-ea"/>
                <a:ea typeface="+mj-ea"/>
              </a:rPr>
              <a:t>Failure of 2 or more organs often following SIRS, sepsis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D2FAC0-C4B1-DB7C-899E-8E2F89D9634B}"/>
              </a:ext>
            </a:extLst>
          </p:cNvPr>
          <p:cNvSpPr txBox="1"/>
          <p:nvPr/>
        </p:nvSpPr>
        <p:spPr>
          <a:xfrm>
            <a:off x="10131554" y="4986166"/>
            <a:ext cx="7097636" cy="307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CCCFF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2200" dirty="0">
                <a:latin typeface="+mj-ea"/>
                <a:ea typeface="+mj-ea"/>
              </a:rPr>
              <a:t>CNS 	-&gt;	Encephalopathy</a:t>
            </a:r>
            <a:endParaRPr lang="ko-KR" altLang="en-US" sz="22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CCC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호흡기계</a:t>
            </a:r>
            <a:r>
              <a:rPr lang="en-US" altLang="ko-KR" sz="2200" dirty="0">
                <a:latin typeface="+mj-ea"/>
                <a:ea typeface="+mj-ea"/>
              </a:rPr>
              <a:t>	-&gt;	</a:t>
            </a:r>
            <a:r>
              <a:rPr lang="en-US" altLang="ko-KR" sz="2200" dirty="0">
                <a:solidFill>
                  <a:srgbClr val="FF0000"/>
                </a:solidFill>
                <a:latin typeface="+mj-ea"/>
                <a:ea typeface="+mj-ea"/>
              </a:rPr>
              <a:t>ARDS</a:t>
            </a:r>
            <a:endParaRPr lang="ko-KR" altLang="en-US" sz="22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CCC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신장 </a:t>
            </a:r>
            <a:r>
              <a:rPr lang="en-US" altLang="ko-KR" sz="2200" dirty="0">
                <a:latin typeface="+mj-ea"/>
                <a:ea typeface="+mj-ea"/>
              </a:rPr>
              <a:t>	-&gt;	AKI</a:t>
            </a:r>
            <a:endParaRPr lang="ko-KR" altLang="en-US" sz="22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CCC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간</a:t>
            </a:r>
            <a:r>
              <a:rPr lang="en-US" altLang="ko-KR" sz="2200" dirty="0">
                <a:latin typeface="+mj-ea"/>
                <a:ea typeface="+mj-ea"/>
              </a:rPr>
              <a:t>		-&gt;	Hepatic dysfunction</a:t>
            </a:r>
            <a:endParaRPr lang="ko-KR" altLang="en-US" sz="2200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Clr>
                <a:srgbClr val="CCCCFF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200" dirty="0">
                <a:latin typeface="+mj-ea"/>
                <a:ea typeface="+mj-ea"/>
              </a:rPr>
              <a:t>심혈관계 </a:t>
            </a:r>
            <a:r>
              <a:rPr lang="en-US" altLang="ko-KR" sz="2200" dirty="0">
                <a:latin typeface="+mj-ea"/>
                <a:ea typeface="+mj-ea"/>
              </a:rPr>
              <a:t>	-&gt;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  <a:r>
              <a:rPr lang="en-US" altLang="ko-KR" sz="2200" dirty="0">
                <a:latin typeface="+mj-ea"/>
                <a:ea typeface="+mj-ea"/>
              </a:rPr>
              <a:t>	Shock </a:t>
            </a:r>
            <a:r>
              <a:rPr lang="ko-KR" altLang="en-US" sz="2200" dirty="0">
                <a:latin typeface="+mj-ea"/>
                <a:ea typeface="+mj-ea"/>
              </a:rPr>
              <a:t> </a:t>
            </a:r>
          </a:p>
          <a:p>
            <a:pPr marL="342900" indent="-342900">
              <a:lnSpc>
                <a:spcPct val="150000"/>
              </a:lnSpc>
              <a:buClr>
                <a:srgbClr val="CCCCFF"/>
              </a:buClr>
              <a:buFont typeface="Wingdings" panose="05000000000000000000" pitchFamily="2" charset="2"/>
              <a:buChar char="§"/>
              <a:defRPr/>
            </a:pPr>
            <a:endParaRPr lang="ko-KR" altLang="en-US" sz="22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088C945-9E26-7E5D-AD90-FF473CBE37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290" b="18850"/>
          <a:stretch>
            <a:fillRect/>
          </a:stretch>
        </p:blipFill>
        <p:spPr>
          <a:xfrm>
            <a:off x="1371600" y="4357931"/>
            <a:ext cx="7534275" cy="5037798"/>
          </a:xfrm>
          <a:prstGeom prst="rect">
            <a:avLst/>
          </a:prstGeom>
        </p:spPr>
      </p:pic>
      <p:sp>
        <p:nvSpPr>
          <p:cNvPr id="16" name="finding-title-01">
            <a:extLst>
              <a:ext uri="{FF2B5EF4-FFF2-40B4-BE49-F238E27FC236}">
                <a16:creationId xmlns:a16="http://schemas.microsoft.com/office/drawing/2014/main" id="{AC4C010B-4C1E-F3A8-FB9F-2BEA5F2096C7}"/>
              </a:ext>
            </a:extLst>
          </p:cNvPr>
          <p:cNvSpPr>
            <a:spLocks noGrp="1"/>
          </p:cNvSpPr>
          <p:nvPr/>
        </p:nvSpPr>
        <p:spPr>
          <a:xfrm>
            <a:off x="10988912" y="4322898"/>
            <a:ext cx="5334000" cy="3048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21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endParaRPr dirty="0"/>
          </a:p>
        </p:txBody>
      </p:sp>
      <p:sp>
        <p:nvSpPr>
          <p:cNvPr id="32" name="bottom-note-bg">
            <a:extLst>
              <a:ext uri="{FF2B5EF4-FFF2-40B4-BE49-F238E27FC236}">
                <a16:creationId xmlns:a16="http://schemas.microsoft.com/office/drawing/2014/main" id="{3B4EEB8E-363D-3E92-3638-94FBB9E14C42}"/>
              </a:ext>
            </a:extLst>
          </p:cNvPr>
          <p:cNvSpPr>
            <a:spLocks noGrp="1"/>
          </p:cNvSpPr>
          <p:nvPr/>
        </p:nvSpPr>
        <p:spPr>
          <a:xfrm>
            <a:off x="10191750" y="8344782"/>
            <a:ext cx="6781800" cy="1028700"/>
          </a:xfrm>
          <a:prstGeom prst="roundRect">
            <a:avLst>
              <a:gd name="adj" fmla="val 14815"/>
            </a:avLst>
          </a:prstGeom>
          <a:solidFill>
            <a:srgbClr val="F3F7FF"/>
          </a:solidFill>
          <a:ln w="0">
            <a:solidFill>
              <a:srgbClr val="F3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480444-26DA-BC63-3862-1BEA71B9C151}"/>
              </a:ext>
            </a:extLst>
          </p:cNvPr>
          <p:cNvSpPr txBox="1"/>
          <p:nvPr/>
        </p:nvSpPr>
        <p:spPr>
          <a:xfrm>
            <a:off x="10191750" y="8551264"/>
            <a:ext cx="6781800" cy="59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rgbClr val="CCCCFF"/>
              </a:buClr>
              <a:defRPr/>
            </a:pPr>
            <a:r>
              <a:rPr lang="en-US" altLang="ko-KR" sz="2500" dirty="0">
                <a:latin typeface="+mj-ea"/>
                <a:ea typeface="+mj-ea"/>
              </a:rPr>
              <a:t>2</a:t>
            </a:r>
            <a:r>
              <a:rPr lang="ko-KR" altLang="en-US" sz="2500" dirty="0">
                <a:latin typeface="+mj-ea"/>
                <a:ea typeface="+mj-ea"/>
              </a:rPr>
              <a:t>개 이상의 장기에 부전</a:t>
            </a:r>
            <a:r>
              <a:rPr lang="en-US" altLang="ko-KR" sz="2500" dirty="0">
                <a:latin typeface="+mj-ea"/>
                <a:ea typeface="+mj-ea"/>
              </a:rPr>
              <a:t> </a:t>
            </a:r>
            <a:r>
              <a:rPr lang="ko-KR" altLang="en-US" sz="2500" dirty="0">
                <a:latin typeface="+mj-ea"/>
                <a:ea typeface="+mj-ea"/>
              </a:rPr>
              <a:t>발생 </a:t>
            </a:r>
            <a:r>
              <a:rPr lang="en-US" altLang="ko-KR" sz="2500" dirty="0">
                <a:latin typeface="+mj-ea"/>
                <a:ea typeface="+mj-ea"/>
              </a:rPr>
              <a:t>=&gt; MODS</a:t>
            </a:r>
          </a:p>
        </p:txBody>
      </p:sp>
    </p:spTree>
    <p:extLst>
      <p:ext uri="{BB962C8B-B14F-4D97-AF65-F5344CB8AC3E}">
        <p14:creationId xmlns:p14="http://schemas.microsoft.com/office/powerpoint/2010/main" val="2490199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BF903-CD49-DA00-4D10-BAB0A0FB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a">
            <a:extLst>
              <a:ext uri="{FF2B5EF4-FFF2-40B4-BE49-F238E27FC236}">
                <a16:creationId xmlns:a16="http://schemas.microsoft.com/office/drawing/2014/main" id="{7358617A-C923-67A7-B89F-4B8AC3932447}"/>
              </a:ext>
            </a:extLst>
          </p:cNvPr>
          <p:cNvSpPr>
            <a:spLocks noGrp="1"/>
          </p:cNvSpPr>
          <p:nvPr/>
        </p:nvSpPr>
        <p:spPr>
          <a:xfrm>
            <a:off x="7239000" y="-2857500"/>
            <a:ext cx="5905500" cy="5905500"/>
          </a:xfrm>
          <a:prstGeom prst="ellipse">
            <a:avLst/>
          </a:prstGeom>
          <a:solidFill>
            <a:srgbClr val="F5F9FF"/>
          </a:solidFill>
          <a:ln w="0">
            <a:solidFill>
              <a:srgbClr val="F5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wash-b">
            <a:extLst>
              <a:ext uri="{FF2B5EF4-FFF2-40B4-BE49-F238E27FC236}">
                <a16:creationId xmlns:a16="http://schemas.microsoft.com/office/drawing/2014/main" id="{28D696EE-E7F9-6869-E3FA-41F0D659E8C0}"/>
              </a:ext>
            </a:extLst>
          </p:cNvPr>
          <p:cNvSpPr>
            <a:spLocks noGrp="1"/>
          </p:cNvSpPr>
          <p:nvPr/>
        </p:nvSpPr>
        <p:spPr>
          <a:xfrm>
            <a:off x="8096250" y="-1714500"/>
            <a:ext cx="4000500" cy="4000500"/>
          </a:xfrm>
          <a:prstGeom prst="ellipse">
            <a:avLst/>
          </a:prstGeom>
          <a:solidFill>
            <a:srgbClr val="EAF2FF"/>
          </a:solidFill>
          <a:ln w="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wash-c">
            <a:extLst>
              <a:ext uri="{FF2B5EF4-FFF2-40B4-BE49-F238E27FC236}">
                <a16:creationId xmlns:a16="http://schemas.microsoft.com/office/drawing/2014/main" id="{81B32C1F-3C0E-B919-5ABD-DAEB762EAFE5}"/>
              </a:ext>
            </a:extLst>
          </p:cNvPr>
          <p:cNvSpPr>
            <a:spLocks noGrp="1"/>
          </p:cNvSpPr>
          <p:nvPr/>
        </p:nvSpPr>
        <p:spPr>
          <a:xfrm>
            <a:off x="8905875" y="-762000"/>
            <a:ext cx="2190750" cy="2190750"/>
          </a:xfrm>
          <a:prstGeom prst="ellipse">
            <a:avLst/>
          </a:prstGeom>
          <a:solidFill>
            <a:srgbClr val="DBE8FE"/>
          </a:solidFill>
          <a:ln w="0">
            <a:solidFill>
              <a:srgbClr val="DBE8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ine-06">
            <a:extLst>
              <a:ext uri="{FF2B5EF4-FFF2-40B4-BE49-F238E27FC236}">
                <a16:creationId xmlns:a16="http://schemas.microsoft.com/office/drawing/2014/main" id="{7C560D2E-0F27-7055-AB0B-0F2C9781BACB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914400" cy="66675"/>
          </a:xfrm>
          <a:prstGeom prst="roundRect">
            <a:avLst>
              <a:gd name="adj" fmla="val 50000"/>
            </a:avLst>
          </a:prstGeom>
          <a:solidFill>
            <a:srgbClr val="333ECB"/>
          </a:solidFill>
          <a:ln w="0">
            <a:solidFill>
              <a:srgbClr val="333E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06">
            <a:extLst>
              <a:ext uri="{FF2B5EF4-FFF2-40B4-BE49-F238E27FC236}">
                <a16:creationId xmlns:a16="http://schemas.microsoft.com/office/drawing/2014/main" id="{007DD9C6-E865-C578-21A7-ECAAB8AB20C3}"/>
              </a:ext>
            </a:extLst>
          </p:cNvPr>
          <p:cNvSpPr>
            <a:spLocks noGrp="1"/>
          </p:cNvSpPr>
          <p:nvPr/>
        </p:nvSpPr>
        <p:spPr>
          <a:xfrm>
            <a:off x="914400" y="990600"/>
            <a:ext cx="4000500" cy="3810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1725" b="0">
                <a:solidFill>
                  <a:srgbClr val="818AFF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lang="en-US" dirty="0"/>
              <a:t>Introduction</a:t>
            </a:r>
            <a:endParaRPr dirty="0"/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2E54963F-5FB2-CC2A-1420-4958C59A7F1A}"/>
              </a:ext>
            </a:extLst>
          </p:cNvPr>
          <p:cNvSpPr>
            <a:spLocks noGrp="1"/>
          </p:cNvSpPr>
          <p:nvPr/>
        </p:nvSpPr>
        <p:spPr>
          <a:xfrm>
            <a:off x="914399" y="1714500"/>
            <a:ext cx="17016761" cy="1333500"/>
          </a:xfrm>
          <a:prstGeom prst="rect">
            <a:avLst/>
          </a:prstGeom>
        </p:spPr>
        <p:txBody>
          <a:bodyPr anchor="ctr"/>
          <a:lstStyle/>
          <a:p>
            <a:pPr>
              <a:defRPr sz="4050" b="0">
                <a:solidFill>
                  <a:srgbClr val="20243A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r>
              <a:rPr lang="en-US" sz="5000" dirty="0"/>
              <a:t>Diagnosing of SIRS</a:t>
            </a:r>
            <a:endParaRPr sz="5000" dirty="0"/>
          </a:p>
        </p:txBody>
      </p:sp>
      <p:sp>
        <p:nvSpPr>
          <p:cNvPr id="16" name="finding-title-01">
            <a:extLst>
              <a:ext uri="{FF2B5EF4-FFF2-40B4-BE49-F238E27FC236}">
                <a16:creationId xmlns:a16="http://schemas.microsoft.com/office/drawing/2014/main" id="{90FAE779-8B18-F697-9919-27BF9711569E}"/>
              </a:ext>
            </a:extLst>
          </p:cNvPr>
          <p:cNvSpPr>
            <a:spLocks noGrp="1"/>
          </p:cNvSpPr>
          <p:nvPr/>
        </p:nvSpPr>
        <p:spPr>
          <a:xfrm>
            <a:off x="10988912" y="4322898"/>
            <a:ext cx="5334000" cy="304800"/>
          </a:xfrm>
          <a:prstGeom prst="rect">
            <a:avLst/>
          </a:prstGeom>
        </p:spPr>
        <p:txBody>
          <a:bodyPr anchor="ctr"/>
          <a:lstStyle/>
          <a:p>
            <a:pPr algn="l">
              <a:buNone/>
              <a:defRPr sz="2100" b="0">
                <a:solidFill>
                  <a:srgbClr val="333ECB"/>
                </a:solidFill>
                <a:latin typeface="한국기계연구원_Bold"/>
                <a:ea typeface="한국기계연구원_Bold"/>
                <a:cs typeface="한국기계연구원_Bold"/>
              </a:defRPr>
            </a:pP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A655BF-F0B5-385D-B9F2-41EBEE1B72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31603" y="3048000"/>
            <a:ext cx="11182351" cy="68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057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6">
      <a:majorFont>
        <a:latin typeface="한국기계연구원_Bold"/>
        <a:ea typeface="에이투지체 5 Medium"/>
        <a:cs typeface="Calibri Light"/>
      </a:majorFont>
      <a:minorFont>
        <a:latin typeface="한국기계연구원_Bold"/>
        <a:ea typeface="에이투지체 5 Medium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1338</Words>
  <Application>Microsoft Office PowerPoint</Application>
  <DocSecurity>0</DocSecurity>
  <PresentationFormat>사용자 지정</PresentationFormat>
  <Paragraphs>235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Wingdings</vt:lpstr>
      <vt:lpstr>나눔바른고딕 Light</vt:lpstr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배유미</cp:lastModifiedBy>
  <cp:revision>7</cp:revision>
  <dcterms:created xsi:type="dcterms:W3CDTF">2026-05-19T16:12:09Z</dcterms:created>
  <dcterms:modified xsi:type="dcterms:W3CDTF">2026-06-08T07:32:00Z</dcterms:modified>
</cp:coreProperties>
</file>